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4"/>
  </p:notesMasterIdLst>
  <p:sldIdLst>
    <p:sldId id="272" r:id="rId2"/>
    <p:sldId id="278" r:id="rId3"/>
    <p:sldId id="258" r:id="rId4"/>
    <p:sldId id="279" r:id="rId5"/>
    <p:sldId id="260" r:id="rId6"/>
    <p:sldId id="280" r:id="rId7"/>
    <p:sldId id="262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9" r:id="rId16"/>
    <p:sldId id="288" r:id="rId17"/>
    <p:sldId id="291" r:id="rId18"/>
    <p:sldId id="290" r:id="rId19"/>
    <p:sldId id="292" r:id="rId20"/>
    <p:sldId id="293" r:id="rId21"/>
    <p:sldId id="269" r:id="rId22"/>
    <p:sldId id="270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6E82"/>
    <a:srgbClr val="F6AC31"/>
    <a:srgbClr val="EED89A"/>
    <a:srgbClr val="FAD394"/>
    <a:srgbClr val="F7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CAFA99F-FCA9-453E-AFA9-369AAF2F4BA3}">
  <a:tblStyle styleId="{6CAFA99F-FCA9-453E-AFA9-369AAF2F4BA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6418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65372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66693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32125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79604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06846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39485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01425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35654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81586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13219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67075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97345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24748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32966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BY SYEDA SARA ALI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BY SYEDA SARA ALI</a:t>
            </a:r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BY SYEDA SARA ALI</a:t>
            </a:r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BY SYEDA SARA ALI</a:t>
            </a: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BY SYEDA SARA ALI</a:t>
            </a:r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BY SYEDA SARA ALI</a:t>
            </a:r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BY SYEDA SARA ALI</a:t>
            </a:r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BY SYEDA SARA ALI</a:t>
            </a:r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BY SYEDA SARA ALI</a:t>
            </a:r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BY SYEDA SARA ALI</a:t>
            </a:r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BY SYEDA SARA ALI</a:t>
            </a:r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GB"/>
              <a:t>BY SYEDA SARA ALI</a:t>
            </a:r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10" Type="http://schemas.openxmlformats.org/officeDocument/2006/relationships/image" Target="../media/image6.jpeg"/><Relationship Id="rId4" Type="http://schemas.openxmlformats.org/officeDocument/2006/relationships/image" Target="../media/image2.png"/><Relationship Id="rId9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10" Type="http://schemas.openxmlformats.org/officeDocument/2006/relationships/image" Target="../media/image32.png"/><Relationship Id="rId4" Type="http://schemas.openxmlformats.org/officeDocument/2006/relationships/image" Target="../media/image16.png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Relationship Id="rId9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47.pn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0.png"/><Relationship Id="rId5" Type="http://schemas.openxmlformats.org/officeDocument/2006/relationships/image" Target="../media/image45.png"/><Relationship Id="rId15" Type="http://schemas.openxmlformats.org/officeDocument/2006/relationships/image" Target="../media/image52.png"/><Relationship Id="rId10" Type="http://schemas.openxmlformats.org/officeDocument/2006/relationships/image" Target="../media/image49.png"/><Relationship Id="rId4" Type="http://schemas.openxmlformats.org/officeDocument/2006/relationships/image" Target="../media/image44.png"/><Relationship Id="rId9" Type="http://schemas.openxmlformats.org/officeDocument/2006/relationships/image" Target="../media/image48.png"/><Relationship Id="rId1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16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53.pn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159;p15">
            <a:extLst>
              <a:ext uri="{FF2B5EF4-FFF2-40B4-BE49-F238E27FC236}">
                <a16:creationId xmlns:a16="http://schemas.microsoft.com/office/drawing/2014/main" id="{1E685301-A7A7-4375-A9AC-55E92F2AB96E}"/>
              </a:ext>
            </a:extLst>
          </p:cNvPr>
          <p:cNvSpPr/>
          <p:nvPr/>
        </p:nvSpPr>
        <p:spPr>
          <a:xfrm flipV="1">
            <a:off x="678730" y="4425770"/>
            <a:ext cx="48772" cy="6989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33710C-C05F-440C-AC8D-BFBC412B1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298"/>
            <a:ext cx="12192000" cy="6850842"/>
          </a:xfrm>
          <a:prstGeom prst="rect">
            <a:avLst/>
          </a:prstGeom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8744" y="6181725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340100" y="6491328"/>
            <a:ext cx="2283023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5E6E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• 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10598794" y="6215062"/>
            <a:ext cx="101218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116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500" b="1" i="0" u="none" strike="noStrike" cap="none" dirty="0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430685" y="493337"/>
            <a:ext cx="11761315" cy="2400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4350" b="1" i="1" u="none" strike="noStrike" dirty="0">
                <a:solidFill>
                  <a:srgbClr val="F6AC3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Conversational</a:t>
            </a:r>
            <a:r>
              <a:rPr lang="en-US" sz="4350" b="1" i="0" u="none" strike="noStrike" dirty="0">
                <a:solidFill>
                  <a:srgbClr val="111827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Agentic AI</a:t>
            </a:r>
            <a:br>
              <a:rPr lang="en-US" sz="4350" b="0" i="0" u="none" strike="noStrike" dirty="0">
                <a:solidFill>
                  <a:srgbClr val="000000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4350" b="1" i="0" u="none" strike="noStrike" dirty="0">
                <a:solidFill>
                  <a:srgbClr val="111827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&amp; </a:t>
            </a:r>
            <a:r>
              <a:rPr lang="en-US" sz="4350" b="1" i="1" u="none" strike="noStrike" dirty="0">
                <a:solidFill>
                  <a:srgbClr val="F6AC3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Voice</a:t>
            </a:r>
            <a:r>
              <a:rPr lang="en-US" sz="4350" b="1" i="0" u="none" strike="noStrike" dirty="0">
                <a:solidFill>
                  <a:srgbClr val="111827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Agents</a:t>
            </a:r>
            <a:endParaRPr lang="en-US" sz="4350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marR="0" lvl="0" indent="0" algn="l" rtl="0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marR="0" lvl="0" indent="0" algn="l" rtl="0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latin typeface="Times" panose="02020603050405020304" pitchFamily="18" charset="0"/>
                <a:cs typeface="Times" panose="02020603050405020304" pitchFamily="18" charset="0"/>
              </a:rPr>
              <a:t>AI Season Bootcamp – </a:t>
            </a:r>
            <a:r>
              <a:rPr lang="en-US" sz="3000" i="1" dirty="0">
                <a:solidFill>
                  <a:srgbClr val="F5A623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Session x</a:t>
            </a:r>
          </a:p>
        </p:txBody>
      </p:sp>
      <p:sp>
        <p:nvSpPr>
          <p:cNvPr id="93" name="Google Shape;93;p13"/>
          <p:cNvSpPr txBox="1"/>
          <p:nvPr/>
        </p:nvSpPr>
        <p:spPr>
          <a:xfrm>
            <a:off x="430685" y="2936135"/>
            <a:ext cx="660171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b="0" i="0" dirty="0">
                <a:solidFill>
                  <a:srgbClr val="5E6E82"/>
                </a:solidFill>
                <a:effectLst/>
                <a:latin typeface="Times New Roman" panose="02020603050405020304" pitchFamily="18" charset="0"/>
              </a:rPr>
              <a:t>Move beyond text-only chatbots into real-time, autonomous voice workflows that perceive, decide, act, and speak.</a:t>
            </a:r>
            <a:endParaRPr lang="en-GB" sz="1600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954DB4-83EF-4981-A319-06E00DDECF0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0805"/>
                    </a14:imgEffect>
                    <a14:imgEffect>
                      <a14:saturation sat="38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7349450" y="1460451"/>
            <a:ext cx="4411865" cy="3829294"/>
          </a:xfrm>
          <a:prstGeom prst="rect">
            <a:avLst/>
          </a:prstGeom>
          <a:solidFill>
            <a:schemeClr val="accent1">
              <a:alpha val="69000"/>
            </a:schemeClr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  <a:softEdge rad="25400"/>
          </a:effectLst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7C40C6BA-42A7-482C-A0E1-C8B96CCE19F8}"/>
              </a:ext>
            </a:extLst>
          </p:cNvPr>
          <p:cNvSpPr/>
          <p:nvPr/>
        </p:nvSpPr>
        <p:spPr>
          <a:xfrm>
            <a:off x="340100" y="4358692"/>
            <a:ext cx="1231185" cy="1201720"/>
          </a:xfrm>
          <a:prstGeom prst="ellipse">
            <a:avLst/>
          </a:prstGeom>
          <a:blipFill>
            <a:blip r:embed="rId7"/>
            <a:stretch>
              <a:fillRect/>
            </a:stretch>
          </a:blipFill>
          <a:ln w="28575">
            <a:solidFill>
              <a:srgbClr val="F5A6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Google Shape;96;p13">
            <a:extLst>
              <a:ext uri="{FF2B5EF4-FFF2-40B4-BE49-F238E27FC236}">
                <a16:creationId xmlns:a16="http://schemas.microsoft.com/office/drawing/2014/main" id="{2775C5E3-7EB0-419E-A493-39A8D3B3DF04}"/>
              </a:ext>
            </a:extLst>
          </p:cNvPr>
          <p:cNvSpPr txBox="1"/>
          <p:nvPr/>
        </p:nvSpPr>
        <p:spPr>
          <a:xfrm>
            <a:off x="1880603" y="4590220"/>
            <a:ext cx="316897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1116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Owais</a:t>
            </a:r>
            <a:r>
              <a:rPr lang="en-US" sz="2400" b="1" i="0" u="none" strike="noStrike" cap="none" dirty="0">
                <a:solidFill>
                  <a:srgbClr val="1116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Rafiq</a:t>
            </a:r>
            <a:endParaRPr lang="en-US" sz="2400" dirty="0"/>
          </a:p>
        </p:txBody>
      </p:sp>
      <p:sp>
        <p:nvSpPr>
          <p:cNvPr id="16" name="Google Shape;97;p13">
            <a:extLst>
              <a:ext uri="{FF2B5EF4-FFF2-40B4-BE49-F238E27FC236}">
                <a16:creationId xmlns:a16="http://schemas.microsoft.com/office/drawing/2014/main" id="{74BEF7EA-9480-48DB-9482-2941B66F7397}"/>
              </a:ext>
            </a:extLst>
          </p:cNvPr>
          <p:cNvSpPr txBox="1"/>
          <p:nvPr/>
        </p:nvSpPr>
        <p:spPr>
          <a:xfrm>
            <a:off x="1880603" y="5012746"/>
            <a:ext cx="242515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dirty="0">
                <a:solidFill>
                  <a:srgbClr val="5E6E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Instructor</a:t>
            </a:r>
            <a:endParaRPr lang="en-US" sz="18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8A4C4B-3082-49C5-90C2-72B9D553C7F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49450" y="1460451"/>
            <a:ext cx="4411865" cy="3829294"/>
          </a:xfrm>
          <a:prstGeom prst="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6CEEFC1D-DA8F-4EB9-8898-0D70DC4B52BB}"/>
              </a:ext>
            </a:extLst>
          </p:cNvPr>
          <p:cNvSpPr/>
          <p:nvPr/>
        </p:nvSpPr>
        <p:spPr>
          <a:xfrm>
            <a:off x="340100" y="4355913"/>
            <a:ext cx="1307947" cy="1201720"/>
          </a:xfrm>
          <a:prstGeom prst="ellipse">
            <a:avLst/>
          </a:prstGeom>
          <a:blipFill dpi="0"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29071"/>
            </a:stretch>
          </a:blipFill>
          <a:ln w="28575">
            <a:solidFill>
              <a:srgbClr val="F5A6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 u="sng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89A1E4-B144-4C40-AEC9-573AA5C06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298"/>
            <a:ext cx="12192000" cy="6815404"/>
          </a:xfrm>
          <a:prstGeom prst="rect">
            <a:avLst/>
          </a:prstGeom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211599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9088" y="2315198"/>
            <a:ext cx="2053530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825055" y="2315198"/>
            <a:ext cx="2053530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69013" y="2315198"/>
            <a:ext cx="2053679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12969" y="2324272"/>
            <a:ext cx="2053530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01307" y="2308711"/>
            <a:ext cx="2053679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98744" y="6181725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6029325"/>
            <a:ext cx="1102995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10598794" y="6215062"/>
            <a:ext cx="101218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116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50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14863" y="2494558"/>
            <a:ext cx="205353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 / Foundation of AI Agents</a:t>
            </a:r>
            <a:endParaRPr dirty="0"/>
          </a:p>
        </p:txBody>
      </p:sp>
      <p:sp>
        <p:nvSpPr>
          <p:cNvPr id="114" name="Google Shape;114;p14"/>
          <p:cNvSpPr txBox="1"/>
          <p:nvPr/>
        </p:nvSpPr>
        <p:spPr>
          <a:xfrm>
            <a:off x="581024" y="3641347"/>
            <a:ext cx="224387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Conversational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Agentic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Agent Architecture</a:t>
            </a:r>
          </a:p>
        </p:txBody>
      </p:sp>
      <p:sp>
        <p:nvSpPr>
          <p:cNvPr id="115" name="Google Shape;115;p14"/>
          <p:cNvSpPr txBox="1"/>
          <p:nvPr/>
        </p:nvSpPr>
        <p:spPr>
          <a:xfrm>
            <a:off x="2918883" y="2440521"/>
            <a:ext cx="205353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/>
            <a:r>
              <a:rPr lang="en-US" b="1" i="0" u="none" strike="noStrike" cap="none" dirty="0">
                <a:solidFill>
                  <a:srgbClr val="F6AC31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02 / </a:t>
            </a:r>
            <a:r>
              <a:rPr lang="en-US" b="1" i="0" dirty="0">
                <a:solidFill>
                  <a:srgbClr val="F6AC3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Agent Intelligence &amp; Decision Making</a:t>
            </a:r>
          </a:p>
        </p:txBody>
      </p:sp>
      <p:sp>
        <p:nvSpPr>
          <p:cNvPr id="117" name="Google Shape;117;p14"/>
          <p:cNvSpPr txBox="1"/>
          <p:nvPr/>
        </p:nvSpPr>
        <p:spPr>
          <a:xfrm>
            <a:off x="2825055" y="3641347"/>
            <a:ext cx="205353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Memory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State Management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Planning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Tool Calling</a:t>
            </a:r>
          </a:p>
        </p:txBody>
      </p:sp>
      <p:sp>
        <p:nvSpPr>
          <p:cNvPr id="118" name="Google Shape;118;p14"/>
          <p:cNvSpPr txBox="1"/>
          <p:nvPr/>
        </p:nvSpPr>
        <p:spPr>
          <a:xfrm>
            <a:off x="5124482" y="2435550"/>
            <a:ext cx="205367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/>
            <a:r>
              <a:rPr lang="en-US" b="1" i="0" u="none" strike="noStrike" cap="none" dirty="0">
                <a:solidFill>
                  <a:srgbClr val="F6AC31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03 / </a:t>
            </a:r>
            <a:r>
              <a:rPr lang="en-US" b="1" i="0" dirty="0">
                <a:solidFill>
                  <a:srgbClr val="F6AC3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Advanced Agent Systems</a:t>
            </a:r>
          </a:p>
        </p:txBody>
      </p:sp>
      <p:sp>
        <p:nvSpPr>
          <p:cNvPr id="120" name="Google Shape;120;p14"/>
          <p:cNvSpPr txBox="1"/>
          <p:nvPr/>
        </p:nvSpPr>
        <p:spPr>
          <a:xfrm>
            <a:off x="5069014" y="3667125"/>
            <a:ext cx="2053679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Multi-Agent Workflows</a:t>
            </a:r>
          </a:p>
          <a:p>
            <a:pPr lvl="3"/>
            <a:endParaRPr lang="en-US" sz="11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7380513" y="2439227"/>
            <a:ext cx="205353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/>
            <a:r>
              <a:rPr lang="en-US" b="1" i="0" u="none" strike="noStrike" cap="none" dirty="0">
                <a:solidFill>
                  <a:srgbClr val="F6AC31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04 / </a:t>
            </a:r>
            <a:r>
              <a:rPr lang="en-US" b="1" i="0" dirty="0">
                <a:solidFill>
                  <a:srgbClr val="F6AC3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Voice AI Pipeline</a:t>
            </a:r>
          </a:p>
        </p:txBody>
      </p:sp>
      <p:sp>
        <p:nvSpPr>
          <p:cNvPr id="123" name="Google Shape;123;p14"/>
          <p:cNvSpPr txBox="1"/>
          <p:nvPr/>
        </p:nvSpPr>
        <p:spPr>
          <a:xfrm>
            <a:off x="7313101" y="3667125"/>
            <a:ext cx="205353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Voice AI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Speech-to-Text (STT)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LLM Processing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Text-to-Speech (TTS)</a:t>
            </a:r>
          </a:p>
        </p:txBody>
      </p:sp>
      <p:sp>
        <p:nvSpPr>
          <p:cNvPr id="124" name="Google Shape;124;p14"/>
          <p:cNvSpPr txBox="1"/>
          <p:nvPr/>
        </p:nvSpPr>
        <p:spPr>
          <a:xfrm>
            <a:off x="9556775" y="2435550"/>
            <a:ext cx="205367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/>
            <a:r>
              <a:rPr lang="en-US" b="1" i="0" u="none" strike="noStrike" cap="none" dirty="0">
                <a:solidFill>
                  <a:srgbClr val="F6AC31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05 / </a:t>
            </a:r>
            <a:r>
              <a:rPr lang="en-US" b="1" i="0" dirty="0">
                <a:solidFill>
                  <a:srgbClr val="F6AC3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Building &amp; Optimizing Voice Agents</a:t>
            </a:r>
          </a:p>
        </p:txBody>
      </p:sp>
      <p:sp>
        <p:nvSpPr>
          <p:cNvPr id="126" name="Google Shape;126;p14"/>
          <p:cNvSpPr txBox="1"/>
          <p:nvPr/>
        </p:nvSpPr>
        <p:spPr>
          <a:xfrm>
            <a:off x="9556975" y="3641347"/>
            <a:ext cx="205367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Build a Voice Agent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Interruptions &amp; Latency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Live Demo</a:t>
            </a:r>
          </a:p>
        </p:txBody>
      </p:sp>
      <p:pic>
        <p:nvPicPr>
          <p:cNvPr id="127" name="Google Shape;127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1025" y="308610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821080" y="3086100"/>
            <a:ext cx="3238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099235" y="3079834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313265" y="3086100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557295" y="3086100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581024" y="485775"/>
            <a:ext cx="360123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 dirty="0">
                <a:solidFill>
                  <a:srgbClr val="111625"/>
                </a:solidFill>
                <a:latin typeface="Times"/>
                <a:ea typeface="Times"/>
                <a:cs typeface="Times"/>
                <a:sym typeface="Times"/>
              </a:rPr>
              <a:t>Session </a:t>
            </a:r>
            <a:r>
              <a:rPr lang="en-US" sz="3800" b="1" i="1" u="none" strike="noStrike" cap="none" dirty="0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 sz="3800" b="1" dirty="0"/>
          </a:p>
        </p:txBody>
      </p:sp>
      <p:sp>
        <p:nvSpPr>
          <p:cNvPr id="133" name="Google Shape;133;p14"/>
          <p:cNvSpPr/>
          <p:nvPr/>
        </p:nvSpPr>
        <p:spPr>
          <a:xfrm flipV="1">
            <a:off x="581024" y="1081028"/>
            <a:ext cx="3211487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90;p13">
            <a:extLst>
              <a:ext uri="{FF2B5EF4-FFF2-40B4-BE49-F238E27FC236}">
                <a16:creationId xmlns:a16="http://schemas.microsoft.com/office/drawing/2014/main" id="{C00902FC-B020-457D-9201-837D1A5F8DA6}"/>
              </a:ext>
            </a:extLst>
          </p:cNvPr>
          <p:cNvSpPr txBox="1"/>
          <p:nvPr/>
        </p:nvSpPr>
        <p:spPr>
          <a:xfrm>
            <a:off x="340100" y="6491328"/>
            <a:ext cx="2283023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5E6E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• 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203;p17" descr="image.png">
            <a:extLst>
              <a:ext uri="{FF2B5EF4-FFF2-40B4-BE49-F238E27FC236}">
                <a16:creationId xmlns:a16="http://schemas.microsoft.com/office/drawing/2014/main" id="{9AB7190B-0FF1-320A-0724-774F2173AEA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57918" y="2050444"/>
            <a:ext cx="4713514" cy="2223651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46" name="Google Shape;14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5"/>
          <p:cNvSpPr txBox="1"/>
          <p:nvPr/>
        </p:nvSpPr>
        <p:spPr>
          <a:xfrm>
            <a:off x="10553253" y="6186487"/>
            <a:ext cx="914846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SEASON</a:t>
            </a:r>
            <a:endParaRPr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532683" y="1718243"/>
            <a:ext cx="6243364" cy="30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/>
            <a:r>
              <a:rPr lang="en-US" sz="2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The 60-Second Proof</a:t>
            </a:r>
          </a:p>
          <a:p>
            <a:pPr algn="l"/>
            <a:endParaRPr lang="en-US" sz="2800" b="1" i="0" dirty="0">
              <a:solidFill>
                <a:srgbClr val="374151"/>
              </a:solidFill>
              <a:effectLst/>
              <a:latin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Chatbot Constraint: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 </a:t>
            </a:r>
            <a:r>
              <a:rPr lang="en-US" sz="2000" b="0" i="0" dirty="0">
                <a:solidFill>
                  <a:srgbClr val="4B5563"/>
                </a:solidFill>
                <a:effectLst/>
                <a:latin typeface="Times New Roman" panose="02020603050405020304" pitchFamily="18" charset="0"/>
              </a:rPr>
              <a:t>Ask </a:t>
            </a:r>
            <a:r>
              <a:rPr lang="en-US" sz="2000" b="0" i="0" dirty="0" err="1">
                <a:solidFill>
                  <a:srgbClr val="4B5563"/>
                </a:solidFill>
                <a:effectLst/>
                <a:latin typeface="Times New Roman" panose="02020603050405020304" pitchFamily="18" charset="0"/>
              </a:rPr>
              <a:t>ChatGPT</a:t>
            </a:r>
            <a:r>
              <a:rPr lang="en-US" sz="2000" b="0" i="0" dirty="0">
                <a:solidFill>
                  <a:srgbClr val="4B5563"/>
                </a:solidFill>
                <a:effectLst/>
                <a:latin typeface="Times New Roman" panose="02020603050405020304" pitchFamily="18" charset="0"/>
              </a:rPr>
              <a:t> to "book a haircut for Tuesday at 3 PM." It returns text suggestions, but has no hands to make changes in the real world.</a:t>
            </a:r>
          </a:p>
          <a:p>
            <a:pPr algn="l"/>
            <a:endParaRPr lang="en-US" sz="2000" b="0" i="0" dirty="0">
              <a:solidFill>
                <a:srgbClr val="4B5563"/>
              </a:solidFill>
              <a:effectLst/>
              <a:latin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Agentic Reality: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 </a:t>
            </a:r>
            <a:r>
              <a:rPr lang="en-US" sz="2000" b="0" i="0" dirty="0">
                <a:solidFill>
                  <a:srgbClr val="4B5563"/>
                </a:solidFill>
                <a:effectLst/>
                <a:latin typeface="Times New Roman" panose="02020603050405020304" pitchFamily="18" charset="0"/>
              </a:rPr>
              <a:t>A voice agent connects to a calendar API, queries real-time slots, negotiates conflicts, and executes the database update.</a:t>
            </a:r>
          </a:p>
        </p:txBody>
      </p:sp>
      <p:sp>
        <p:nvSpPr>
          <p:cNvPr id="152" name="Google Shape;152;p15"/>
          <p:cNvSpPr txBox="1"/>
          <p:nvPr/>
        </p:nvSpPr>
        <p:spPr>
          <a:xfrm>
            <a:off x="7581900" y="2436505"/>
            <a:ext cx="3859106" cy="1465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39958"/>
              </a:lnSpc>
            </a:pPr>
            <a:r>
              <a:rPr lang="en-GB" sz="3400" dirty="0">
                <a:solidFill>
                  <a:srgbClr val="F6AC3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"</a:t>
            </a:r>
            <a:r>
              <a:rPr lang="en-US" sz="3400" b="0" i="1" dirty="0">
                <a:solidFill>
                  <a:srgbClr val="1A1A1A"/>
                </a:solidFill>
                <a:effectLst/>
                <a:latin typeface="Times New Roman" panose="02020603050405020304" pitchFamily="18" charset="0"/>
              </a:rPr>
              <a:t>A chatbot answers. An agent </a:t>
            </a:r>
            <a:r>
              <a:rPr lang="en-US" sz="3400" b="1" i="1" dirty="0">
                <a:solidFill>
                  <a:srgbClr val="F6AC31"/>
                </a:solidFill>
                <a:effectLst/>
                <a:latin typeface="Times New Roman" panose="02020603050405020304" pitchFamily="18" charset="0"/>
              </a:rPr>
              <a:t>does</a:t>
            </a:r>
            <a:r>
              <a:rPr lang="en-US" sz="3400" b="0" i="1" dirty="0">
                <a:solidFill>
                  <a:srgbClr val="1A1A1A"/>
                </a:solidFill>
                <a:effectLst/>
                <a:latin typeface="Times New Roman" panose="02020603050405020304" pitchFamily="18" charset="0"/>
              </a:rPr>
              <a:t>.</a:t>
            </a:r>
            <a:r>
              <a:rPr lang="en-GB" sz="3400" dirty="0">
                <a:solidFill>
                  <a:srgbClr val="F6AC3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"</a:t>
            </a:r>
            <a:endParaRPr lang="en-GB" sz="3400" dirty="0">
              <a:solidFill>
                <a:srgbClr val="F6AC3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723900" y="532436"/>
            <a:ext cx="727003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dirty="0">
                <a:latin typeface="Times" panose="02020603050405020304" pitchFamily="18" charset="0"/>
                <a:cs typeface="Times" panose="02020603050405020304" pitchFamily="18" charset="0"/>
              </a:rPr>
              <a:t>Introduction to </a:t>
            </a:r>
            <a:r>
              <a:rPr lang="en-US" sz="3800" b="1" i="1" dirty="0">
                <a:solidFill>
                  <a:srgbClr val="F6AC3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Conversational AI</a:t>
            </a:r>
            <a:endParaRPr sz="3800" b="1" i="1" dirty="0">
              <a:solidFill>
                <a:srgbClr val="F6AC3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59" name="Google Shape;159;p15"/>
          <p:cNvSpPr/>
          <p:nvPr/>
        </p:nvSpPr>
        <p:spPr>
          <a:xfrm flipV="1">
            <a:off x="4125628" y="1045435"/>
            <a:ext cx="3333948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90764C-EA2A-0BA5-176F-332172ACF283}"/>
              </a:ext>
            </a:extLst>
          </p:cNvPr>
          <p:cNvSpPr txBox="1"/>
          <p:nvPr/>
        </p:nvSpPr>
        <p:spPr>
          <a:xfrm>
            <a:off x="792398" y="5407261"/>
            <a:ext cx="106072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</a:rPr>
              <a:t>Class Exercise (3 min):</a:t>
            </a:r>
            <a:r>
              <a:rPr lang="en-US" sz="1600" b="0" i="1" dirty="0">
                <a:solidFill>
                  <a:srgbClr val="5E6E82"/>
                </a:solidFill>
                <a:effectLst/>
                <a:latin typeface="Times New Roman" panose="02020603050405020304" pitchFamily="18" charset="0"/>
              </a:rPr>
              <a:t> Name 3 conversational AI tools used this week. Classify each on the board as Chat-only or Agentic.</a:t>
            </a:r>
            <a:endParaRPr lang="en-US" sz="1600" b="1" i="1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8" name="Google Shape;90;p13">
            <a:extLst>
              <a:ext uri="{FF2B5EF4-FFF2-40B4-BE49-F238E27FC236}">
                <a16:creationId xmlns:a16="http://schemas.microsoft.com/office/drawing/2014/main" id="{3696E3F0-DBF9-4749-A1A6-6CA5E8B0E551}"/>
              </a:ext>
            </a:extLst>
          </p:cNvPr>
          <p:cNvSpPr txBox="1"/>
          <p:nvPr/>
        </p:nvSpPr>
        <p:spPr>
          <a:xfrm>
            <a:off x="340100" y="6491328"/>
            <a:ext cx="2283023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5E6E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• 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F55D70D-666E-493A-ADB9-DE5363DE2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298"/>
            <a:ext cx="12192000" cy="6815404"/>
          </a:xfrm>
          <a:prstGeom prst="rect">
            <a:avLst/>
          </a:prstGeom>
        </p:spPr>
      </p:pic>
      <p:pic>
        <p:nvPicPr>
          <p:cNvPr id="139" name="Google Shape;13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5"/>
          <p:cNvSpPr txBox="1"/>
          <p:nvPr/>
        </p:nvSpPr>
        <p:spPr>
          <a:xfrm>
            <a:off x="10553253" y="6186487"/>
            <a:ext cx="914846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SEASON</a:t>
            </a:r>
            <a:endParaRPr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723900" y="532436"/>
            <a:ext cx="6858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dirty="0">
                <a:solidFill>
                  <a:srgbClr val="111827"/>
                </a:solidFill>
                <a:effectLst/>
                <a:latin typeface="Times New Roman" panose="02020603050405020304" pitchFamily="18" charset="0"/>
              </a:rPr>
              <a:t>Chatbot </a:t>
            </a:r>
            <a:r>
              <a:rPr lang="en-US" sz="3800" b="1" i="0" u="none" strike="noStrike" dirty="0">
                <a:solidFill>
                  <a:srgbClr val="F6AC31"/>
                </a:solidFill>
                <a:effectLst/>
                <a:latin typeface="Times New Roman" panose="02020603050405020304" pitchFamily="18" charset="0"/>
              </a:rPr>
              <a:t>vs.</a:t>
            </a:r>
            <a:r>
              <a:rPr lang="en-US" sz="3800" b="1" i="0" u="none" strike="noStrike" dirty="0">
                <a:solidFill>
                  <a:srgbClr val="111827"/>
                </a:solidFill>
                <a:effectLst/>
                <a:latin typeface="Times New Roman" panose="02020603050405020304" pitchFamily="18" charset="0"/>
              </a:rPr>
              <a:t> Agentic AI</a:t>
            </a:r>
            <a:endParaRPr sz="3800" b="1" i="1" dirty="0">
              <a:solidFill>
                <a:srgbClr val="F6AC3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59" name="Google Shape;159;p15"/>
          <p:cNvSpPr/>
          <p:nvPr/>
        </p:nvSpPr>
        <p:spPr>
          <a:xfrm flipV="1">
            <a:off x="2485926" y="1045434"/>
            <a:ext cx="549572" cy="625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970AE95-E9AD-4082-BE57-D20AE9E19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1620951"/>
            <a:ext cx="5353050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89CBBB6-535E-4A0C-AEFB-BA49956ED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8928" y="1620951"/>
            <a:ext cx="5353050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6B89FCD-6FE4-4D89-B061-D7DAA239EF48}"/>
              </a:ext>
            </a:extLst>
          </p:cNvPr>
          <p:cNvSpPr txBox="1"/>
          <p:nvPr/>
        </p:nvSpPr>
        <p:spPr>
          <a:xfrm>
            <a:off x="473242" y="1771468"/>
            <a:ext cx="5327483" cy="314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050" b="1" i="0" u="none" strike="noStrike" dirty="0">
                <a:solidFill>
                  <a:srgbClr val="92400E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TRADITIONAL FAQ / IVR</a:t>
            </a:r>
            <a:endParaRPr lang="en-US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b="0" dirty="0">
                <a:effectLst/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2000" b="1" i="0" u="none" strike="noStrike" dirty="0">
                <a:solidFill>
                  <a:srgbClr val="111827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A Chatbot Answers</a:t>
            </a:r>
            <a:endParaRPr lang="en-US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b="0" dirty="0">
                <a:effectLst/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1400" b="0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Read-only conversation flow that retrieves static context or answers predefined questions.</a:t>
            </a:r>
            <a:endParaRPr lang="en-US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b="0" dirty="0">
                <a:effectLst/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1400" b="1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No External Tools:</a:t>
            </a:r>
            <a:r>
              <a:rPr lang="en-US" sz="1400" b="0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Incapable of taking actions on live APIs.</a:t>
            </a:r>
            <a:endParaRPr lang="en-US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b="0" dirty="0">
                <a:effectLst/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1400" b="1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Single Turn Focus:</a:t>
            </a:r>
            <a:r>
              <a:rPr lang="en-US" sz="1400" b="0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Operates on isolated prompt-response cycles.</a:t>
            </a:r>
            <a:endParaRPr lang="en-US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b="0" dirty="0">
                <a:effectLst/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1400" b="1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Rigid Paths:</a:t>
            </a:r>
            <a:r>
              <a:rPr lang="en-US" sz="1400" b="0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Fails when caller strays from rigid tree structure.</a:t>
            </a:r>
            <a:endParaRPr lang="en-US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B08923-9BB0-4D5A-9729-AAC5330E3DB7}"/>
              </a:ext>
            </a:extLst>
          </p:cNvPr>
          <p:cNvSpPr txBox="1"/>
          <p:nvPr/>
        </p:nvSpPr>
        <p:spPr>
          <a:xfrm>
            <a:off x="6337885" y="1706542"/>
            <a:ext cx="5195136" cy="3362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050" b="1" i="0" u="none" strike="noStrike" dirty="0">
                <a:solidFill>
                  <a:srgbClr val="B45309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AUTONOMOUS VOICE AI</a:t>
            </a:r>
            <a:endParaRPr lang="en-US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b="0" dirty="0">
                <a:effectLst/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2000" b="1" i="0" u="none" strike="noStrike" dirty="0">
                <a:solidFill>
                  <a:srgbClr val="111827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An Agent Does</a:t>
            </a:r>
            <a:endParaRPr lang="en-US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b="0" dirty="0">
                <a:effectLst/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1400" b="0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Goal-driven intelligence equipped with tools, state machines, and multi-turn execution.</a:t>
            </a:r>
            <a:endParaRPr lang="en-US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b="0" dirty="0">
                <a:effectLst/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1400" b="1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Equipped with Hands:</a:t>
            </a:r>
            <a:r>
              <a:rPr lang="en-US" sz="1400" b="0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Invokes calendar, CRM, and payment APIs.</a:t>
            </a:r>
            <a:endParaRPr lang="en-US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b="0" dirty="0">
                <a:effectLst/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1400" b="1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Multi-Turn Execution:</a:t>
            </a:r>
            <a:r>
              <a:rPr lang="en-US" sz="1400" b="0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Books, confirms, and reschedules autonomously.</a:t>
            </a:r>
            <a:endParaRPr lang="en-US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b="0" dirty="0">
                <a:effectLst/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1400" b="1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Self-Correction:</a:t>
            </a:r>
            <a:r>
              <a:rPr lang="en-US" sz="1400" b="0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Detects function failures and retries or escalates.</a:t>
            </a:r>
            <a:endParaRPr lang="en-US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5" name="Google Shape;90;p13">
            <a:extLst>
              <a:ext uri="{FF2B5EF4-FFF2-40B4-BE49-F238E27FC236}">
                <a16:creationId xmlns:a16="http://schemas.microsoft.com/office/drawing/2014/main" id="{3ED6A15B-2658-4C5D-B1F4-3D085CDFA801}"/>
              </a:ext>
            </a:extLst>
          </p:cNvPr>
          <p:cNvSpPr txBox="1"/>
          <p:nvPr/>
        </p:nvSpPr>
        <p:spPr>
          <a:xfrm>
            <a:off x="340100" y="6491328"/>
            <a:ext cx="2283023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5E6E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•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8212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03;p17" descr="image.png">
            <a:extLst>
              <a:ext uri="{FF2B5EF4-FFF2-40B4-BE49-F238E27FC236}">
                <a16:creationId xmlns:a16="http://schemas.microsoft.com/office/drawing/2014/main" id="{C85311E0-5524-4AD2-820A-DE5792980E5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4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7"/>
          <p:cNvSpPr txBox="1"/>
          <p:nvPr/>
        </p:nvSpPr>
        <p:spPr>
          <a:xfrm>
            <a:off x="10553253" y="6186487"/>
            <a:ext cx="914846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SEASON</a:t>
            </a:r>
            <a:endParaRPr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33" name="Google Shape;233;p17"/>
          <p:cNvSpPr txBox="1"/>
          <p:nvPr/>
        </p:nvSpPr>
        <p:spPr>
          <a:xfrm>
            <a:off x="723899" y="533400"/>
            <a:ext cx="709924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/>
            <a:r>
              <a:rPr lang="en-US" sz="3800" b="1" i="1" dirty="0">
                <a:solidFill>
                  <a:srgbClr val="F6AC31"/>
                </a:solidFill>
                <a:effectLst/>
                <a:latin typeface="Times New Roman" panose="02020603050405020304" pitchFamily="18" charset="0"/>
              </a:rPr>
              <a:t>Agentic</a:t>
            </a:r>
            <a:r>
              <a:rPr lang="en-US" sz="3800" b="1" i="0" dirty="0">
                <a:solidFill>
                  <a:srgbClr val="1F2937"/>
                </a:solidFill>
                <a:effectLst/>
                <a:latin typeface="Times New Roman" panose="02020603050405020304" pitchFamily="18" charset="0"/>
              </a:rPr>
              <a:t> AI Fundamentals</a:t>
            </a:r>
          </a:p>
        </p:txBody>
      </p:sp>
      <p:sp>
        <p:nvSpPr>
          <p:cNvPr id="234" name="Google Shape;234;p17"/>
          <p:cNvSpPr/>
          <p:nvPr/>
        </p:nvSpPr>
        <p:spPr>
          <a:xfrm flipV="1">
            <a:off x="708931" y="1115472"/>
            <a:ext cx="1536963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  <p:sp>
        <p:nvSpPr>
          <p:cNvPr id="20" name="Google Shape;90;p13">
            <a:extLst>
              <a:ext uri="{FF2B5EF4-FFF2-40B4-BE49-F238E27FC236}">
                <a16:creationId xmlns:a16="http://schemas.microsoft.com/office/drawing/2014/main" id="{966E1759-D621-48B8-85CC-CB54064382C3}"/>
              </a:ext>
            </a:extLst>
          </p:cNvPr>
          <p:cNvSpPr txBox="1"/>
          <p:nvPr/>
        </p:nvSpPr>
        <p:spPr>
          <a:xfrm>
            <a:off x="340100" y="6491328"/>
            <a:ext cx="2283023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5E6E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• 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8FA86C-C25C-48B4-9290-764BAD53B3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899" y="1366837"/>
            <a:ext cx="7924800" cy="43756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6E90EB-EC51-482E-8E5C-AA2FE3DCF36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793" r="14923"/>
          <a:stretch/>
        </p:blipFill>
        <p:spPr>
          <a:xfrm>
            <a:off x="9102444" y="1966912"/>
            <a:ext cx="2711117" cy="2924175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2E1A910-4E3D-4552-88D7-5368271FB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298"/>
            <a:ext cx="12192000" cy="6815404"/>
          </a:xfrm>
          <a:prstGeom prst="rect">
            <a:avLst/>
          </a:prstGeom>
        </p:spPr>
      </p:pic>
      <p:pic>
        <p:nvPicPr>
          <p:cNvPr id="209" name="Google Shape;20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5840329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7"/>
          <p:cNvSpPr txBox="1"/>
          <p:nvPr/>
        </p:nvSpPr>
        <p:spPr>
          <a:xfrm>
            <a:off x="10553253" y="6186487"/>
            <a:ext cx="914846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SEASON</a:t>
            </a:r>
            <a:endParaRPr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33" name="Google Shape;233;p17"/>
          <p:cNvSpPr txBox="1"/>
          <p:nvPr/>
        </p:nvSpPr>
        <p:spPr>
          <a:xfrm>
            <a:off x="723899" y="533400"/>
            <a:ext cx="906178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3800" b="1" i="0" u="none" strike="noStrike" dirty="0">
                <a:solidFill>
                  <a:srgbClr val="111827"/>
                </a:solidFill>
                <a:effectLst/>
                <a:latin typeface="Times New Roman" panose="02020603050405020304" pitchFamily="18" charset="0"/>
              </a:rPr>
              <a:t>Agentic </a:t>
            </a:r>
            <a:r>
              <a:rPr lang="en-US" sz="3800" b="1" i="1" u="none" strike="noStrike" dirty="0">
                <a:solidFill>
                  <a:srgbClr val="F6AC31"/>
                </a:solidFill>
                <a:effectLst/>
                <a:latin typeface="Times New Roman" panose="02020603050405020304" pitchFamily="18" charset="0"/>
              </a:rPr>
              <a:t>AI Loop</a:t>
            </a:r>
            <a:r>
              <a:rPr lang="en-US" sz="3800" b="1" i="0" u="none" strike="noStrike" dirty="0">
                <a:solidFill>
                  <a:srgbClr val="111827"/>
                </a:solidFill>
                <a:effectLst/>
                <a:latin typeface="Times New Roman" panose="02020603050405020304" pitchFamily="18" charset="0"/>
              </a:rPr>
              <a:t>: </a:t>
            </a:r>
            <a:r>
              <a:rPr lang="en-US" sz="2800" b="1" i="1" u="none" strike="noStrike" dirty="0">
                <a:solidFill>
                  <a:srgbClr val="5E6E82"/>
                </a:solidFill>
                <a:effectLst/>
                <a:latin typeface="Times New Roman" panose="02020603050405020304" pitchFamily="18" charset="0"/>
              </a:rPr>
              <a:t>Salon Booking Example</a:t>
            </a:r>
            <a:endParaRPr lang="en-US" sz="2800" b="0" i="1" dirty="0">
              <a:solidFill>
                <a:srgbClr val="5E6E82"/>
              </a:solidFill>
              <a:effectLst/>
            </a:endParaRPr>
          </a:p>
        </p:txBody>
      </p:sp>
      <p:sp>
        <p:nvSpPr>
          <p:cNvPr id="234" name="Google Shape;234;p17"/>
          <p:cNvSpPr/>
          <p:nvPr/>
        </p:nvSpPr>
        <p:spPr>
          <a:xfrm flipV="1">
            <a:off x="2406316" y="1072135"/>
            <a:ext cx="1309902" cy="4603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  <p:sp>
        <p:nvSpPr>
          <p:cNvPr id="20" name="Google Shape;90;p13">
            <a:extLst>
              <a:ext uri="{FF2B5EF4-FFF2-40B4-BE49-F238E27FC236}">
                <a16:creationId xmlns:a16="http://schemas.microsoft.com/office/drawing/2014/main" id="{966E1759-D621-48B8-85CC-CB54064382C3}"/>
              </a:ext>
            </a:extLst>
          </p:cNvPr>
          <p:cNvSpPr txBox="1"/>
          <p:nvPr/>
        </p:nvSpPr>
        <p:spPr>
          <a:xfrm>
            <a:off x="340100" y="6491328"/>
            <a:ext cx="2283023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5E6E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• 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F096D4-CC7C-43AE-83A0-EE5E346CC9E3}"/>
              </a:ext>
            </a:extLst>
          </p:cNvPr>
          <p:cNvSpPr txBox="1"/>
          <p:nvPr/>
        </p:nvSpPr>
        <p:spPr>
          <a:xfrm>
            <a:off x="503042" y="4246984"/>
            <a:ext cx="525859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Perceive:</a:t>
            </a:r>
            <a:r>
              <a:rPr lang="en-US" sz="1600" b="0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Caller says </a:t>
            </a:r>
            <a:r>
              <a:rPr lang="en-US" sz="1600" b="0" i="1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"I want a balayage next week with Amina."</a:t>
            </a:r>
            <a:endParaRPr lang="en-US" sz="1600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Decide:</a:t>
            </a:r>
            <a:r>
              <a:rPr lang="en-US" sz="1600" b="0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Identifies missing slots; checks calendar availability for balayage service.</a:t>
            </a:r>
            <a:endParaRPr lang="en-US" sz="1600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0F7E86-6E7F-49F8-B5E8-C1B3EECFD4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821" y="1958779"/>
            <a:ext cx="10042358" cy="1435691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25682E9-69F7-4B05-96B4-AA158F99A195}"/>
              </a:ext>
            </a:extLst>
          </p:cNvPr>
          <p:cNvSpPr txBox="1"/>
          <p:nvPr/>
        </p:nvSpPr>
        <p:spPr>
          <a:xfrm>
            <a:off x="5755900" y="4246984"/>
            <a:ext cx="571219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Act:</a:t>
            </a:r>
            <a:r>
              <a:rPr lang="en-US" sz="1600" b="0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Executes tool call </a:t>
            </a:r>
            <a:r>
              <a:rPr lang="en-US" sz="1600" b="0" i="0" u="none" strike="noStrike" dirty="0" err="1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check_calendar</a:t>
            </a:r>
            <a:r>
              <a:rPr lang="en-US" sz="1600" b="0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(service="balayage", stylist="Amina").</a:t>
            </a:r>
            <a:endParaRPr lang="en-US" sz="1600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Observe:</a:t>
            </a:r>
            <a:r>
              <a:rPr lang="en-US" sz="1600" b="0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Receives API result (e.g. ["Tue 3pm", "Thu 11am"]) and formulates spoken answer.</a:t>
            </a:r>
            <a:endParaRPr lang="en-US" sz="1600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3998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FD20B2D-3FB9-4B45-8ED4-60D21275F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298"/>
            <a:ext cx="12192000" cy="6815404"/>
          </a:xfrm>
          <a:prstGeom prst="rect">
            <a:avLst/>
          </a:prstGeom>
        </p:spPr>
      </p:pic>
      <p:pic>
        <p:nvPicPr>
          <p:cNvPr id="279" name="Google Shape;2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9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723899" y="533400"/>
            <a:ext cx="712632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800" b="1" dirty="0">
                <a:latin typeface="Times" panose="02020603050405020304" pitchFamily="18" charset="0"/>
                <a:cs typeface="Times" panose="02020603050405020304" pitchFamily="18" charset="0"/>
              </a:rPr>
              <a:t>AI </a:t>
            </a:r>
            <a:r>
              <a:rPr lang="en-US" sz="3800" b="1" i="1" dirty="0">
                <a:solidFill>
                  <a:srgbClr val="F6AC3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Agent</a:t>
            </a:r>
            <a:r>
              <a:rPr lang="en-US" sz="3800" b="1" dirty="0">
                <a:latin typeface="Times" panose="02020603050405020304" pitchFamily="18" charset="0"/>
                <a:cs typeface="Times" panose="02020603050405020304" pitchFamily="18" charset="0"/>
              </a:rPr>
              <a:t> Architecture</a:t>
            </a:r>
            <a:endParaRPr lang="en-US" sz="38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" name="Google Shape;234;p17">
            <a:extLst>
              <a:ext uri="{FF2B5EF4-FFF2-40B4-BE49-F238E27FC236}">
                <a16:creationId xmlns:a16="http://schemas.microsoft.com/office/drawing/2014/main" id="{65174462-14AF-796F-4016-5774E5D25D43}"/>
              </a:ext>
            </a:extLst>
          </p:cNvPr>
          <p:cNvSpPr/>
          <p:nvPr/>
        </p:nvSpPr>
        <p:spPr>
          <a:xfrm flipV="1">
            <a:off x="1312015" y="1092102"/>
            <a:ext cx="1254722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8701EB-2319-47E3-B2C0-D7AC558F2F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897" y="6286499"/>
            <a:ext cx="2362200" cy="2952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77BD48-151B-455C-A775-E96E105A4D8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5251"/>
          <a:stretch/>
        </p:blipFill>
        <p:spPr>
          <a:xfrm>
            <a:off x="1090863" y="1487935"/>
            <a:ext cx="9762430" cy="4512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7BAD585-E270-4529-8B10-07EC57885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298"/>
            <a:ext cx="12192000" cy="6815404"/>
          </a:xfrm>
          <a:prstGeom prst="rect">
            <a:avLst/>
          </a:prstGeom>
        </p:spPr>
      </p:pic>
      <p:pic>
        <p:nvPicPr>
          <p:cNvPr id="279" name="Google Shape;2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9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723899" y="533400"/>
            <a:ext cx="914598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/>
            <a:r>
              <a:rPr lang="en-US" sz="3800" b="1" i="0" dirty="0">
                <a:solidFill>
                  <a:srgbClr val="1F2937"/>
                </a:solidFill>
                <a:effectLst/>
                <a:latin typeface="Times New Roman" panose="02020603050405020304" pitchFamily="18" charset="0"/>
              </a:rPr>
              <a:t>Voice </a:t>
            </a:r>
            <a:r>
              <a:rPr lang="en-US" sz="3800" b="1" i="1" dirty="0">
                <a:solidFill>
                  <a:srgbClr val="F6AC31"/>
                </a:solidFill>
                <a:effectLst/>
                <a:latin typeface="Times New Roman" panose="02020603050405020304" pitchFamily="18" charset="0"/>
              </a:rPr>
              <a:t>AI Architecture </a:t>
            </a:r>
            <a:r>
              <a:rPr lang="en-US" sz="3800" b="1" i="0" dirty="0">
                <a:solidFill>
                  <a:srgbClr val="1F2937"/>
                </a:solidFill>
                <a:effectLst/>
                <a:latin typeface="Times New Roman" panose="02020603050405020304" pitchFamily="18" charset="0"/>
              </a:rPr>
              <a:t>&amp; Latency Budget</a:t>
            </a:r>
          </a:p>
        </p:txBody>
      </p:sp>
      <p:sp>
        <p:nvSpPr>
          <p:cNvPr id="4" name="Google Shape;234;p17">
            <a:extLst>
              <a:ext uri="{FF2B5EF4-FFF2-40B4-BE49-F238E27FC236}">
                <a16:creationId xmlns:a16="http://schemas.microsoft.com/office/drawing/2014/main" id="{65174462-14AF-796F-4016-5774E5D25D43}"/>
              </a:ext>
            </a:extLst>
          </p:cNvPr>
          <p:cNvSpPr/>
          <p:nvPr/>
        </p:nvSpPr>
        <p:spPr>
          <a:xfrm flipV="1">
            <a:off x="1889531" y="1092101"/>
            <a:ext cx="3211858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8701EB-2319-47E3-B2C0-D7AC558F2F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897" y="6286499"/>
            <a:ext cx="2362200" cy="2952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7D4E90-FBBD-4114-B772-643FF1766D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3006" y="1362150"/>
            <a:ext cx="9145988" cy="461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956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147AEF5-1952-4CA3-ABD0-B6719ACE4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298"/>
            <a:ext cx="12192000" cy="6815404"/>
          </a:xfrm>
          <a:prstGeom prst="rect">
            <a:avLst/>
          </a:prstGeom>
        </p:spPr>
      </p:pic>
      <p:pic>
        <p:nvPicPr>
          <p:cNvPr id="279" name="Google Shape;2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9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723899" y="533400"/>
            <a:ext cx="914598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/>
            <a:r>
              <a:rPr lang="en-US" sz="3800" b="1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Agent</a:t>
            </a:r>
            <a:r>
              <a:rPr lang="en-US" sz="3800" b="1" i="1" u="none" strike="noStrike" dirty="0">
                <a:solidFill>
                  <a:srgbClr val="F6AC31"/>
                </a:solidFill>
                <a:effectLst/>
                <a:latin typeface="Times New Roman" panose="02020603050405020304" pitchFamily="18" charset="0"/>
              </a:rPr>
              <a:t> Memory</a:t>
            </a:r>
            <a:r>
              <a:rPr lang="en-US" sz="3800" b="1" i="0" u="none" strike="noStrike" dirty="0">
                <a:solidFill>
                  <a:srgbClr val="111827"/>
                </a:solidFill>
                <a:effectLst/>
                <a:latin typeface="Times New Roman" panose="02020603050405020304" pitchFamily="18" charset="0"/>
              </a:rPr>
              <a:t>: </a:t>
            </a:r>
            <a:r>
              <a:rPr lang="en-US" sz="2800" b="1" i="1" u="none" strike="noStrike" dirty="0">
                <a:solidFill>
                  <a:srgbClr val="5E6E82"/>
                </a:solidFill>
                <a:effectLst/>
                <a:latin typeface="Times New Roman" panose="02020603050405020304" pitchFamily="18" charset="0"/>
              </a:rPr>
              <a:t>Short-Term vs. Long-Term</a:t>
            </a:r>
            <a:endParaRPr lang="en-US" sz="2800" b="1" i="1" dirty="0">
              <a:solidFill>
                <a:srgbClr val="5E6E82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4" name="Google Shape;234;p17">
            <a:extLst>
              <a:ext uri="{FF2B5EF4-FFF2-40B4-BE49-F238E27FC236}">
                <a16:creationId xmlns:a16="http://schemas.microsoft.com/office/drawing/2014/main" id="{65174462-14AF-796F-4016-5774E5D25D43}"/>
              </a:ext>
            </a:extLst>
          </p:cNvPr>
          <p:cNvSpPr/>
          <p:nvPr/>
        </p:nvSpPr>
        <p:spPr>
          <a:xfrm flipV="1">
            <a:off x="2036907" y="1059419"/>
            <a:ext cx="1460271" cy="58755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8701EB-2319-47E3-B2C0-D7AC558F2F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897" y="6286499"/>
            <a:ext cx="2362200" cy="295275"/>
          </a:xfrm>
          <a:prstGeom prst="rect">
            <a:avLst/>
          </a:prstGeom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6CFB5CF7-C093-415E-BB93-200B253AE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064" y="2000250"/>
            <a:ext cx="5353050" cy="2628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A2A1C437-E32E-4A07-9695-39AB7CD77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886" y="2000250"/>
            <a:ext cx="5353050" cy="2628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C18C910-D9F0-4A1C-A8F8-1AB2534A592C}"/>
              </a:ext>
            </a:extLst>
          </p:cNvPr>
          <p:cNvSpPr txBox="1"/>
          <p:nvPr/>
        </p:nvSpPr>
        <p:spPr>
          <a:xfrm>
            <a:off x="401718" y="2228671"/>
            <a:ext cx="5026757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400" b="1" i="0" u="none" strike="noStrike" dirty="0">
                <a:solidFill>
                  <a:srgbClr val="111827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Short-Term Memory</a:t>
            </a:r>
            <a:endParaRPr lang="en-US" sz="2400" b="1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1800" b="0" dirty="0">
                <a:effectLst/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1800" b="1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Maintained within call context buffer</a:t>
            </a:r>
            <a:endParaRPr lang="en-US" sz="1800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1800" b="0" dirty="0">
                <a:effectLst/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1800" b="0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Tracks active conversation context during the call (e.g., clarifying "Did you mean this Tuesday or next Tuesday?").</a:t>
            </a:r>
            <a:br>
              <a:rPr lang="en-US" sz="1800" dirty="0">
                <a:latin typeface="Times" panose="02020603050405020304" pitchFamily="18" charset="0"/>
                <a:cs typeface="Times" panose="02020603050405020304" pitchFamily="18" charset="0"/>
              </a:rPr>
            </a:br>
            <a:endParaRPr lang="en-US" sz="1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816184-E83B-4D3D-9FA9-92BE7BF3E7AF}"/>
              </a:ext>
            </a:extLst>
          </p:cNvPr>
          <p:cNvSpPr txBox="1"/>
          <p:nvPr/>
        </p:nvSpPr>
        <p:spPr>
          <a:xfrm>
            <a:off x="6493178" y="2228329"/>
            <a:ext cx="5226465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400" b="1" i="0" u="none" strike="noStrike" dirty="0">
                <a:solidFill>
                  <a:srgbClr val="111827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Long-Term Memory Injection</a:t>
            </a:r>
            <a:endParaRPr lang="en-US" sz="2400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1800" b="0" dirty="0">
                <a:effectLst/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1800" b="1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CRM Lookup on Call Initiation</a:t>
            </a:r>
            <a:endParaRPr lang="en-US" sz="1800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1800" b="0" dirty="0">
                <a:effectLst/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1800" b="0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Fetched via function call at start and injected directly into system prompt context:</a:t>
            </a:r>
            <a:endParaRPr lang="en-US" sz="1800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br>
              <a:rPr lang="en-US" sz="1800" dirty="0">
                <a:latin typeface="Times" panose="02020603050405020304" pitchFamily="18" charset="0"/>
                <a:cs typeface="Times" panose="02020603050405020304" pitchFamily="18" charset="0"/>
              </a:rPr>
            </a:br>
            <a:endParaRPr lang="en-US" sz="1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3084" name="Picture 12">
            <a:extLst>
              <a:ext uri="{FF2B5EF4-FFF2-40B4-BE49-F238E27FC236}">
                <a16:creationId xmlns:a16="http://schemas.microsoft.com/office/drawing/2014/main" id="{EEDA931B-B330-41E9-BCBB-3B1E82824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4962526"/>
            <a:ext cx="4762500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2063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203;p17" descr="image.png">
            <a:extLst>
              <a:ext uri="{FF2B5EF4-FFF2-40B4-BE49-F238E27FC236}">
                <a16:creationId xmlns:a16="http://schemas.microsoft.com/office/drawing/2014/main" id="{6B2A44E1-A1C6-4012-B35A-C4766F125BD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340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1303" y="6141161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5988761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9"/>
          <p:cNvSpPr txBox="1"/>
          <p:nvPr/>
        </p:nvSpPr>
        <p:spPr>
          <a:xfrm>
            <a:off x="10553253" y="6174498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723899" y="521411"/>
            <a:ext cx="914598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3800" b="1" i="0" u="none" strike="noStrike" dirty="0">
                <a:solidFill>
                  <a:srgbClr val="111827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Conversation State </a:t>
            </a:r>
            <a:r>
              <a:rPr lang="en-US" sz="3800" b="1" i="1" u="none" strike="noStrike" dirty="0">
                <a:solidFill>
                  <a:srgbClr val="F6AC3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Slot-Filling</a:t>
            </a:r>
            <a:r>
              <a:rPr lang="en-US" sz="3800" b="1" i="0" u="none" strike="noStrike" dirty="0">
                <a:solidFill>
                  <a:srgbClr val="111827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Matrix</a:t>
            </a:r>
            <a:endParaRPr lang="en-US" sz="3800" b="1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" name="Google Shape;234;p17">
            <a:extLst>
              <a:ext uri="{FF2B5EF4-FFF2-40B4-BE49-F238E27FC236}">
                <a16:creationId xmlns:a16="http://schemas.microsoft.com/office/drawing/2014/main" id="{65174462-14AF-796F-4016-5774E5D25D43}"/>
              </a:ext>
            </a:extLst>
          </p:cNvPr>
          <p:cNvSpPr/>
          <p:nvPr/>
        </p:nvSpPr>
        <p:spPr>
          <a:xfrm>
            <a:off x="4761068" y="1060467"/>
            <a:ext cx="2040785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8701EB-2319-47E3-B2C0-D7AC558F2F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897" y="6274510"/>
            <a:ext cx="2362200" cy="295275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647D12D-6999-4026-AF0A-B8C3C8A1E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474749"/>
              </p:ext>
            </p:extLst>
          </p:nvPr>
        </p:nvGraphicFramePr>
        <p:xfrm>
          <a:off x="787065" y="2037981"/>
          <a:ext cx="10617869" cy="2710694"/>
        </p:xfrm>
        <a:graphic>
          <a:graphicData uri="http://schemas.openxmlformats.org/drawingml/2006/table">
            <a:tbl>
              <a:tblPr/>
              <a:tblGrid>
                <a:gridCol w="1980535">
                  <a:extLst>
                    <a:ext uri="{9D8B030D-6E8A-4147-A177-3AD203B41FA5}">
                      <a16:colId xmlns:a16="http://schemas.microsoft.com/office/drawing/2014/main" val="2731316903"/>
                    </a:ext>
                  </a:extLst>
                </a:gridCol>
                <a:gridCol w="3200031">
                  <a:extLst>
                    <a:ext uri="{9D8B030D-6E8A-4147-A177-3AD203B41FA5}">
                      <a16:colId xmlns:a16="http://schemas.microsoft.com/office/drawing/2014/main" val="133853093"/>
                    </a:ext>
                  </a:extLst>
                </a:gridCol>
                <a:gridCol w="1604601">
                  <a:extLst>
                    <a:ext uri="{9D8B030D-6E8A-4147-A177-3AD203B41FA5}">
                      <a16:colId xmlns:a16="http://schemas.microsoft.com/office/drawing/2014/main" val="1889825239"/>
                    </a:ext>
                  </a:extLst>
                </a:gridCol>
                <a:gridCol w="3832702">
                  <a:extLst>
                    <a:ext uri="{9D8B030D-6E8A-4147-A177-3AD203B41FA5}">
                      <a16:colId xmlns:a16="http://schemas.microsoft.com/office/drawing/2014/main" val="2394693846"/>
                    </a:ext>
                  </a:extLst>
                </a:gridCol>
              </a:tblGrid>
              <a:tr h="468427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Slot Variable</a:t>
                      </a:r>
                      <a:endParaRPr lang="en-US" sz="1800" i="0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Target Format / Values</a:t>
                      </a:r>
                      <a:endParaRPr lang="en-US" sz="1800" i="0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Current State</a:t>
                      </a:r>
                      <a:endParaRPr lang="en-US" sz="1800" i="0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System Prompt Rule</a:t>
                      </a:r>
                      <a:endParaRPr lang="en-US" sz="1800" i="0" dirty="0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745365"/>
                  </a:ext>
                </a:extLst>
              </a:tr>
              <a:tr h="468427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Service Type</a:t>
                      </a:r>
                      <a:endParaRPr lang="en-US" sz="1800" i="0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haircut | balayage | coloring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u="none" strike="noStrike">
                          <a:solidFill>
                            <a:srgbClr val="059669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 Balayage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177668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Required before checking calendar slots.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664693"/>
                  </a:ext>
                </a:extLst>
              </a:tr>
              <a:tr h="468427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Date &amp; Time</a:t>
                      </a:r>
                      <a:endParaRPr lang="en-US" sz="1800" i="0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ISO 8601 Timestamp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u="none" strike="noStrike">
                          <a:solidFill>
                            <a:srgbClr val="059669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 Tue 3:00 PM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177668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Must be checked against live calendar API.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522481"/>
                  </a:ext>
                </a:extLst>
              </a:tr>
              <a:tr h="468427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Stylist Preference</a:t>
                      </a:r>
                      <a:endParaRPr lang="en-US" sz="1800" i="0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Stylist Name | "Any"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u="none" strike="noStrike">
                          <a:solidFill>
                            <a:srgbClr val="DC2626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 Uncollected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163455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Ask caller preference; default to "Any".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641588"/>
                  </a:ext>
                </a:extLst>
              </a:tr>
              <a:tr h="468427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Phone Confirmation</a:t>
                      </a:r>
                      <a:endParaRPr lang="en-US" sz="1800" i="0" dirty="0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E.164 Phone Number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u="none" strike="noStrike">
                          <a:solidFill>
                            <a:srgbClr val="DC2626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 Uncollected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163455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 dirty="0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Mandatory before finalizing booking payload.</a:t>
                      </a:r>
                      <a:endParaRPr lang="en-US" sz="1800" i="1" dirty="0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23713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8705DEE3-BE1D-4F49-B42B-D7D565635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98044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68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2B9F17C-A3B9-4B84-853E-8A069174F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298"/>
            <a:ext cx="12192000" cy="6815404"/>
          </a:xfrm>
          <a:prstGeom prst="rect">
            <a:avLst/>
          </a:prstGeom>
        </p:spPr>
      </p:pic>
      <p:pic>
        <p:nvPicPr>
          <p:cNvPr id="15" name="Google Shape;203;p17" descr="image.png">
            <a:extLst>
              <a:ext uri="{FF2B5EF4-FFF2-40B4-BE49-F238E27FC236}">
                <a16:creationId xmlns:a16="http://schemas.microsoft.com/office/drawing/2014/main" id="{2EA7C240-D7DF-4BEA-BDE5-F6F2B557BE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7340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9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723899" y="533400"/>
            <a:ext cx="7126321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3800" b="1" i="1" u="none" strike="noStrike" dirty="0" err="1">
                <a:solidFill>
                  <a:srgbClr val="F6AC3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ReAct</a:t>
            </a:r>
            <a:r>
              <a:rPr lang="en-US" sz="3800" b="1" i="0" u="none" strike="noStrike" dirty="0">
                <a:solidFill>
                  <a:srgbClr val="111827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Framework</a:t>
            </a:r>
            <a:br>
              <a:rPr lang="en-US" sz="3800" dirty="0">
                <a:latin typeface="Times" panose="02020603050405020304" pitchFamily="18" charset="0"/>
                <a:cs typeface="Times" panose="02020603050405020304" pitchFamily="18" charset="0"/>
              </a:rPr>
            </a:br>
            <a:endParaRPr lang="en-US" sz="38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" name="Google Shape;234;p17">
            <a:extLst>
              <a:ext uri="{FF2B5EF4-FFF2-40B4-BE49-F238E27FC236}">
                <a16:creationId xmlns:a16="http://schemas.microsoft.com/office/drawing/2014/main" id="{65174462-14AF-796F-4016-5774E5D25D43}"/>
              </a:ext>
            </a:extLst>
          </p:cNvPr>
          <p:cNvSpPr/>
          <p:nvPr/>
        </p:nvSpPr>
        <p:spPr>
          <a:xfrm flipV="1">
            <a:off x="721693" y="1072456"/>
            <a:ext cx="1254722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8701EB-2319-47E3-B2C0-D7AC558F2F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897" y="6286499"/>
            <a:ext cx="2362200" cy="2952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CBB9F9F-B53C-4345-9F84-405B0A519D75}"/>
              </a:ext>
            </a:extLst>
          </p:cNvPr>
          <p:cNvSpPr txBox="1"/>
          <p:nvPr/>
        </p:nvSpPr>
        <p:spPr>
          <a:xfrm>
            <a:off x="552896" y="1850142"/>
            <a:ext cx="648958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Caller Utterance:</a:t>
            </a:r>
            <a:r>
              <a:rPr lang="en-US" sz="2000" b="0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2000" b="0" i="1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"Do you have anything available later today?"</a:t>
            </a:r>
            <a:endParaRPr lang="en-US" sz="2000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Agent Reasons:</a:t>
            </a:r>
            <a:r>
              <a:rPr lang="en-US" sz="2000" b="0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"I need today's live availability schedule. I don't know it yet, so I must trigger a tool."</a:t>
            </a:r>
            <a:endParaRPr lang="en-US" sz="2000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Agent Acts:</a:t>
            </a:r>
            <a:r>
              <a:rPr lang="en-US" sz="2000" b="0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Executes </a:t>
            </a:r>
            <a:r>
              <a:rPr lang="en-US" sz="2000" b="0" i="0" u="none" strike="noStrike" dirty="0" err="1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check_calendar</a:t>
            </a:r>
            <a:r>
              <a:rPr lang="en-US" sz="2000" b="0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(date="today").</a:t>
            </a:r>
            <a:endParaRPr lang="en-US" sz="2000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Tool Observes:</a:t>
            </a:r>
            <a:r>
              <a:rPr lang="en-US" sz="2000" b="0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API returns ["2:00 PM - Amina", "5:00 PM - Zara"].</a:t>
            </a:r>
            <a:endParaRPr lang="en-US" sz="2000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Agent Reasons &amp; Responds:</a:t>
            </a:r>
            <a:r>
              <a:rPr lang="en-US" sz="2000" b="0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"I have 2 slots available today: 2:00 PM with Amina or 5:00 PM with Zara. Which works better for you?"</a:t>
            </a:r>
            <a:endParaRPr lang="en-US" sz="2000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C1E372-BAC7-448F-B093-E888052C29E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7237" r="29911"/>
          <a:stretch/>
        </p:blipFill>
        <p:spPr>
          <a:xfrm>
            <a:off x="7871736" y="777677"/>
            <a:ext cx="3690483" cy="46974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9765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B946A1D-70D8-46B3-8790-B30EF3E6F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298"/>
            <a:ext cx="12192000" cy="7319212"/>
          </a:xfrm>
          <a:prstGeom prst="rect">
            <a:avLst/>
          </a:prstGeom>
        </p:spPr>
      </p:pic>
      <p:pic>
        <p:nvPicPr>
          <p:cNvPr id="23" name="Google Shape;203;p17" descr="image.png">
            <a:extLst>
              <a:ext uri="{FF2B5EF4-FFF2-40B4-BE49-F238E27FC236}">
                <a16:creationId xmlns:a16="http://schemas.microsoft.com/office/drawing/2014/main" id="{AAB3EEF5-62F6-41BF-B1E5-413EC27251D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7340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9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723899" y="533400"/>
            <a:ext cx="712632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/>
            <a:r>
              <a:rPr lang="en-US" sz="3800" b="1" i="0" dirty="0">
                <a:solidFill>
                  <a:srgbClr val="1F2937"/>
                </a:solidFill>
                <a:effectLst/>
                <a:latin typeface="Times New Roman" panose="02020603050405020304" pitchFamily="18" charset="0"/>
              </a:rPr>
              <a:t>Function / Tool </a:t>
            </a:r>
            <a:r>
              <a:rPr lang="en-US" sz="3800" b="1" i="1" dirty="0">
                <a:solidFill>
                  <a:srgbClr val="F6AC31"/>
                </a:solidFill>
                <a:effectLst/>
                <a:latin typeface="Times New Roman" panose="02020603050405020304" pitchFamily="18" charset="0"/>
              </a:rPr>
              <a:t>Calling</a:t>
            </a:r>
          </a:p>
        </p:txBody>
      </p:sp>
      <p:sp>
        <p:nvSpPr>
          <p:cNvPr id="4" name="Google Shape;234;p17">
            <a:extLst>
              <a:ext uri="{FF2B5EF4-FFF2-40B4-BE49-F238E27FC236}">
                <a16:creationId xmlns:a16="http://schemas.microsoft.com/office/drawing/2014/main" id="{65174462-14AF-796F-4016-5774E5D25D43}"/>
              </a:ext>
            </a:extLst>
          </p:cNvPr>
          <p:cNvSpPr/>
          <p:nvPr/>
        </p:nvSpPr>
        <p:spPr>
          <a:xfrm flipV="1">
            <a:off x="4007089" y="1072456"/>
            <a:ext cx="1254722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8701EB-2319-47E3-B2C0-D7AC558F2F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897" y="6286499"/>
            <a:ext cx="2362200" cy="295275"/>
          </a:xfrm>
          <a:prstGeom prst="rect">
            <a:avLst/>
          </a:prstGeom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485CF318-DFA6-4E16-BB6E-1108150F3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897" y="1657231"/>
            <a:ext cx="535305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722B8A0-34E9-458B-9D04-5239A0D75C63}"/>
              </a:ext>
            </a:extLst>
          </p:cNvPr>
          <p:cNvSpPr txBox="1"/>
          <p:nvPr/>
        </p:nvSpPr>
        <p:spPr>
          <a:xfrm>
            <a:off x="666418" y="1874223"/>
            <a:ext cx="512600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 b="1" i="0" u="none" strike="noStrike" dirty="0">
                <a:solidFill>
                  <a:srgbClr val="111827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Key Schema Principles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sz="1600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Explicit Enums:</a:t>
            </a:r>
            <a:r>
              <a:rPr lang="en-US" sz="1600" b="0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Constrain inputs so LLM never passes invalid service types.</a:t>
            </a:r>
            <a:endParaRPr lang="en-US" sz="1600" i="0" u="none" strike="noStrike" dirty="0">
              <a:solidFill>
                <a:srgbClr val="37415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Description Clarity:</a:t>
            </a:r>
            <a:r>
              <a:rPr lang="en-US" sz="1600" b="0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Inform LLM *when* to execute tool vs when to ask caller questions.</a:t>
            </a:r>
            <a:endParaRPr lang="en-US" sz="1600" i="0" u="none" strike="noStrike" dirty="0">
              <a:solidFill>
                <a:srgbClr val="37415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Strict Validation:</a:t>
            </a:r>
            <a:r>
              <a:rPr lang="en-US" sz="1600" b="0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Prevent invalid API calls before network requests dispatch.</a:t>
            </a:r>
            <a:endParaRPr lang="en-US" sz="1600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677F0A-2F87-4E13-8105-636608D7269B}"/>
              </a:ext>
            </a:extLst>
          </p:cNvPr>
          <p:cNvSpPr txBox="1"/>
          <p:nvPr/>
        </p:nvSpPr>
        <p:spPr>
          <a:xfrm>
            <a:off x="6791603" y="1739293"/>
            <a:ext cx="50955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 b="1" i="0" u="none" strike="noStrike" dirty="0">
                <a:solidFill>
                  <a:srgbClr val="111827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Function Calling JSON Schema</a:t>
            </a:r>
            <a:endParaRPr lang="en-US" sz="1600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1600" b="0" dirty="0">
                <a:effectLst/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b="0" i="0" u="none" strike="noStrike" dirty="0">
                <a:solidFill>
                  <a:srgbClr val="37415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Structured schema registered with Vapi / LLM engine to enable real-time calendar queries.</a:t>
            </a:r>
            <a:endParaRPr lang="en-US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5130" name="Picture 10">
            <a:extLst>
              <a:ext uri="{FF2B5EF4-FFF2-40B4-BE49-F238E27FC236}">
                <a16:creationId xmlns:a16="http://schemas.microsoft.com/office/drawing/2014/main" id="{67ECA90F-49F9-4BC8-8153-1F06DC107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603" y="2926464"/>
            <a:ext cx="4999383" cy="1156441"/>
          </a:xfrm>
          <a:prstGeom prst="rect">
            <a:avLst/>
          </a:prstGeom>
          <a:noFill/>
          <a:effectLst>
            <a:reflection blurRad="6350" stA="50000" endA="275" endPos="40000" dist="1016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1253D8-506C-457E-8503-CD4D8DC9B93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72951" y="5029272"/>
            <a:ext cx="6646098" cy="82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735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1F54AE2-E33D-4D94-BBF0-740CEEC2F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298"/>
            <a:ext cx="12192000" cy="6815404"/>
          </a:xfrm>
          <a:prstGeom prst="rect">
            <a:avLst/>
          </a:prstGeom>
        </p:spPr>
      </p:pic>
      <p:pic>
        <p:nvPicPr>
          <p:cNvPr id="279" name="Google Shape;2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9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723899" y="533400"/>
            <a:ext cx="712632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800" b="1" dirty="0">
                <a:latin typeface="Times" panose="02020603050405020304" pitchFamily="18" charset="0"/>
                <a:cs typeface="Times" panose="02020603050405020304" pitchFamily="18" charset="0"/>
              </a:rPr>
              <a:t>Multi-</a:t>
            </a:r>
            <a:r>
              <a:rPr lang="en-US" sz="3800" b="1" i="1" dirty="0">
                <a:solidFill>
                  <a:srgbClr val="F6AC3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Agent</a:t>
            </a:r>
            <a:r>
              <a:rPr lang="en-US" sz="3800" b="1" dirty="0">
                <a:latin typeface="Times" panose="02020603050405020304" pitchFamily="18" charset="0"/>
                <a:cs typeface="Times" panose="02020603050405020304" pitchFamily="18" charset="0"/>
              </a:rPr>
              <a:t> Workflow</a:t>
            </a:r>
            <a:endParaRPr lang="en-US" sz="38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" name="Google Shape;234;p17">
            <a:extLst>
              <a:ext uri="{FF2B5EF4-FFF2-40B4-BE49-F238E27FC236}">
                <a16:creationId xmlns:a16="http://schemas.microsoft.com/office/drawing/2014/main" id="{65174462-14AF-796F-4016-5774E5D25D43}"/>
              </a:ext>
            </a:extLst>
          </p:cNvPr>
          <p:cNvSpPr/>
          <p:nvPr/>
        </p:nvSpPr>
        <p:spPr>
          <a:xfrm flipV="1">
            <a:off x="1967335" y="1092103"/>
            <a:ext cx="1254722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8701EB-2319-47E3-B2C0-D7AC558F2F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897" y="6286499"/>
            <a:ext cx="2362200" cy="2952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C83F1C-D953-47A2-8E70-2E7BC4A11FB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499" t="19750" r="2125"/>
          <a:stretch/>
        </p:blipFill>
        <p:spPr>
          <a:xfrm>
            <a:off x="4175760" y="1644759"/>
            <a:ext cx="7521323" cy="4194067"/>
          </a:xfrm>
          <a:prstGeom prst="rect">
            <a:avLst/>
          </a:prstGeom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43B870F3-55FF-4B4C-AC92-2BB0F15B6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897" y="1508717"/>
            <a:ext cx="3016847" cy="412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2027BAA-FE53-4FE9-A554-CF7A457611DC}"/>
              </a:ext>
            </a:extLst>
          </p:cNvPr>
          <p:cNvSpPr txBox="1"/>
          <p:nvPr/>
        </p:nvSpPr>
        <p:spPr>
          <a:xfrm>
            <a:off x="552898" y="1936283"/>
            <a:ext cx="3016846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" panose="02020603050405020304" pitchFamily="18" charset="0"/>
                <a:cs typeface="Times" panose="02020603050405020304" pitchFamily="18" charset="0"/>
              </a:rPr>
              <a:t>Reception Agent</a:t>
            </a:r>
          </a:p>
          <a:p>
            <a:pPr algn="l"/>
            <a:r>
              <a:rPr lang="en-US" b="0" i="1" dirty="0">
                <a:solidFill>
                  <a:srgbClr val="5E6E82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Greets the caller</a:t>
            </a:r>
          </a:p>
          <a:p>
            <a:pPr algn="l"/>
            <a:r>
              <a:rPr lang="en-US" b="0" i="1" dirty="0">
                <a:solidFill>
                  <a:srgbClr val="5E6E82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Identifies intent</a:t>
            </a:r>
          </a:p>
          <a:p>
            <a:pPr algn="l"/>
            <a:r>
              <a:rPr lang="en-US" b="0" i="1" dirty="0">
                <a:solidFill>
                  <a:srgbClr val="5E6E82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Collects basic details</a:t>
            </a:r>
          </a:p>
          <a:p>
            <a:pPr algn="l"/>
            <a:endParaRPr lang="en-US" b="0" i="0" dirty="0">
              <a:solidFill>
                <a:srgbClr val="5E6E82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1600" b="1" dirty="0">
                <a:latin typeface="Times" panose="02020603050405020304" pitchFamily="18" charset="0"/>
                <a:cs typeface="Times" panose="02020603050405020304" pitchFamily="18" charset="0"/>
              </a:rPr>
              <a:t>Agent Hand-off</a:t>
            </a:r>
          </a:p>
          <a:p>
            <a:pPr algn="l"/>
            <a:r>
              <a:rPr lang="en-US" b="0" i="1" dirty="0">
                <a:solidFill>
                  <a:srgbClr val="5E6E82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Switches to the appropriate agent</a:t>
            </a:r>
          </a:p>
          <a:p>
            <a:pPr algn="l"/>
            <a:r>
              <a:rPr lang="en-US" b="0" i="1" dirty="0">
                <a:solidFill>
                  <a:srgbClr val="5E6E82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Preserves conversation context</a:t>
            </a:r>
          </a:p>
          <a:p>
            <a:pPr algn="l"/>
            <a:endParaRPr lang="en-US" b="0" i="0" dirty="0">
              <a:solidFill>
                <a:srgbClr val="5E6E82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1600" b="1" dirty="0">
                <a:latin typeface="Times" panose="02020603050405020304" pitchFamily="18" charset="0"/>
                <a:cs typeface="Times" panose="02020603050405020304" pitchFamily="18" charset="0"/>
              </a:rPr>
              <a:t>Human Escalation</a:t>
            </a:r>
          </a:p>
          <a:p>
            <a:pPr algn="l"/>
            <a:r>
              <a:rPr lang="en-US" b="0" i="1" dirty="0">
                <a:solidFill>
                  <a:srgbClr val="5E6E82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Escalates complex requests</a:t>
            </a:r>
          </a:p>
          <a:p>
            <a:pPr algn="l"/>
            <a:r>
              <a:rPr lang="en-US" b="0" i="1" dirty="0">
                <a:solidFill>
                  <a:srgbClr val="5E6E82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Performs warm SIP transfer</a:t>
            </a:r>
          </a:p>
          <a:p>
            <a:pPr algn="l"/>
            <a:r>
              <a:rPr lang="en-US" b="0" i="1" dirty="0">
                <a:solidFill>
                  <a:srgbClr val="5E6E82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Shares conversation </a:t>
            </a:r>
            <a:r>
              <a:rPr lang="en-US" b="0" i="1" dirty="0" err="1">
                <a:solidFill>
                  <a:srgbClr val="5E6E82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contex</a:t>
            </a:r>
            <a:endParaRPr lang="en-US" b="0" i="1" dirty="0">
              <a:solidFill>
                <a:srgbClr val="5E6E82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9531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6483B39-F71E-4605-9E24-EBBC9F4B5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298"/>
            <a:ext cx="12192000" cy="6815404"/>
          </a:xfrm>
          <a:prstGeom prst="rect">
            <a:avLst/>
          </a:prstGeom>
        </p:spPr>
      </p:pic>
      <p:pic>
        <p:nvPicPr>
          <p:cNvPr id="279" name="Google Shape;2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9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723899" y="533400"/>
            <a:ext cx="950076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3800" b="1" i="0" u="none" strike="noStrike" dirty="0">
                <a:solidFill>
                  <a:srgbClr val="111827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Speech-to-Text </a:t>
            </a:r>
            <a:r>
              <a:rPr lang="en-US" sz="3800" b="1" i="1" u="none" strike="noStrike" dirty="0">
                <a:solidFill>
                  <a:srgbClr val="F6AC3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(STT) </a:t>
            </a:r>
            <a:r>
              <a:rPr lang="en-US" sz="3800" b="1" i="0" u="none" strike="noStrike" dirty="0">
                <a:solidFill>
                  <a:srgbClr val="111827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Engine Benchmark</a:t>
            </a:r>
            <a:endParaRPr lang="en-US" sz="3800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" name="Google Shape;234;p17">
            <a:extLst>
              <a:ext uri="{FF2B5EF4-FFF2-40B4-BE49-F238E27FC236}">
                <a16:creationId xmlns:a16="http://schemas.microsoft.com/office/drawing/2014/main" id="{65174462-14AF-796F-4016-5774E5D25D43}"/>
              </a:ext>
            </a:extLst>
          </p:cNvPr>
          <p:cNvSpPr/>
          <p:nvPr/>
        </p:nvSpPr>
        <p:spPr>
          <a:xfrm flipV="1">
            <a:off x="3918055" y="1110140"/>
            <a:ext cx="1254722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8701EB-2319-47E3-B2C0-D7AC558F2F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897" y="6286499"/>
            <a:ext cx="2362200" cy="295275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E994431-3AA7-4AAD-B3B8-C92B15A66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496673"/>
              </p:ext>
            </p:extLst>
          </p:nvPr>
        </p:nvGraphicFramePr>
        <p:xfrm>
          <a:off x="957238" y="1889145"/>
          <a:ext cx="9500765" cy="3074445"/>
        </p:xfrm>
        <a:graphic>
          <a:graphicData uri="http://schemas.openxmlformats.org/drawingml/2006/table">
            <a:tbl>
              <a:tblPr/>
              <a:tblGrid>
                <a:gridCol w="2141364">
                  <a:extLst>
                    <a:ext uri="{9D8B030D-6E8A-4147-A177-3AD203B41FA5}">
                      <a16:colId xmlns:a16="http://schemas.microsoft.com/office/drawing/2014/main" val="1107022776"/>
                    </a:ext>
                  </a:extLst>
                </a:gridCol>
                <a:gridCol w="1616279">
                  <a:extLst>
                    <a:ext uri="{9D8B030D-6E8A-4147-A177-3AD203B41FA5}">
                      <a16:colId xmlns:a16="http://schemas.microsoft.com/office/drawing/2014/main" val="2501504887"/>
                    </a:ext>
                  </a:extLst>
                </a:gridCol>
                <a:gridCol w="1936253">
                  <a:extLst>
                    <a:ext uri="{9D8B030D-6E8A-4147-A177-3AD203B41FA5}">
                      <a16:colId xmlns:a16="http://schemas.microsoft.com/office/drawing/2014/main" val="254417913"/>
                    </a:ext>
                  </a:extLst>
                </a:gridCol>
                <a:gridCol w="3806869">
                  <a:extLst>
                    <a:ext uri="{9D8B030D-6E8A-4147-A177-3AD203B41FA5}">
                      <a16:colId xmlns:a16="http://schemas.microsoft.com/office/drawing/2014/main" val="624494277"/>
                    </a:ext>
                  </a:extLst>
                </a:gridCol>
              </a:tblGrid>
              <a:tr h="709325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STT Provider / Engine</a:t>
                      </a:r>
                      <a:endParaRPr lang="en-US" sz="1800" i="0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First Token Latency</a:t>
                      </a:r>
                      <a:endParaRPr lang="en-US" sz="1800" i="0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Word Error Rate (WER)</a:t>
                      </a:r>
                      <a:endParaRPr lang="en-US" sz="1800" i="0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Primary Architectural Advantage</a:t>
                      </a:r>
                      <a:endParaRPr lang="en-US" sz="1800" i="0" dirty="0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59967"/>
                  </a:ext>
                </a:extLst>
              </a:tr>
              <a:tr h="562815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Deepgram Nova-3</a:t>
                      </a:r>
                      <a:endParaRPr lang="en-US" sz="1800" i="0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~120 – 180 ms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3.2%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Industry standard for low latency &amp; keyword boosting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880874"/>
                  </a:ext>
                </a:extLst>
              </a:tr>
              <a:tr h="562815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Gradium STT (Semantic VAD)</a:t>
                      </a:r>
                      <a:endParaRPr lang="en-US" sz="1800" i="0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~140 – 200 ms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2.4%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Semantic end-of-turn detection prevents false interrupts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669179"/>
                  </a:ext>
                </a:extLst>
              </a:tr>
              <a:tr h="562815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OpenAI Whisper-v3</a:t>
                      </a:r>
                      <a:endParaRPr lang="en-US" sz="1800" i="0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~300 – 450 ms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2.8%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Superior accuracy in high background noise environments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454049"/>
                  </a:ext>
                </a:extLst>
              </a:tr>
              <a:tr h="562815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 err="1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AssemblyAI</a:t>
                      </a:r>
                      <a:r>
                        <a:rPr lang="en-US" sz="1800" b="1" i="0" u="none" strike="noStrike" dirty="0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Universal</a:t>
                      </a:r>
                      <a:endParaRPr lang="en-US" sz="1800" i="0" dirty="0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~250 – 350 ms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3.5%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 dirty="0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Built-in PII redaction and real-time audio intelligence</a:t>
                      </a:r>
                      <a:endParaRPr lang="en-US" sz="1800" i="1" dirty="0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002973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6A7DC852-C21F-4CC7-B235-88B570934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9479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9870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98F9BA5-92C2-462C-B02E-C90D03ECE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298"/>
            <a:ext cx="12192000" cy="6815404"/>
          </a:xfrm>
          <a:prstGeom prst="rect">
            <a:avLst/>
          </a:prstGeom>
        </p:spPr>
      </p:pic>
      <p:pic>
        <p:nvPicPr>
          <p:cNvPr id="279" name="Google Shape;2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9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723899" y="533400"/>
            <a:ext cx="950076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3800" b="1" i="0" u="none" strike="noStrike" dirty="0">
                <a:solidFill>
                  <a:srgbClr val="111827"/>
                </a:solidFill>
                <a:effectLst/>
                <a:latin typeface="Times New Roman" panose="02020603050405020304" pitchFamily="18" charset="0"/>
              </a:rPr>
              <a:t>Voice </a:t>
            </a:r>
            <a:r>
              <a:rPr lang="en-US" sz="3800" b="1" i="1" u="none" strike="noStrike" dirty="0">
                <a:solidFill>
                  <a:srgbClr val="F6AC31"/>
                </a:solidFill>
                <a:effectLst/>
                <a:latin typeface="Times New Roman" panose="02020603050405020304" pitchFamily="18" charset="0"/>
              </a:rPr>
              <a:t>AI Latency </a:t>
            </a:r>
            <a:r>
              <a:rPr lang="en-US" sz="3800" b="1" i="0" u="none" strike="noStrike" dirty="0">
                <a:solidFill>
                  <a:srgbClr val="111827"/>
                </a:solidFill>
                <a:effectLst/>
                <a:latin typeface="Times New Roman" panose="02020603050405020304" pitchFamily="18" charset="0"/>
              </a:rPr>
              <a:t>Budget Breakdown</a:t>
            </a:r>
            <a:endParaRPr lang="en-US" sz="3800" b="0" dirty="0">
              <a:effectLst/>
            </a:endParaRPr>
          </a:p>
        </p:txBody>
      </p:sp>
      <p:sp>
        <p:nvSpPr>
          <p:cNvPr id="4" name="Google Shape;234;p17">
            <a:extLst>
              <a:ext uri="{FF2B5EF4-FFF2-40B4-BE49-F238E27FC236}">
                <a16:creationId xmlns:a16="http://schemas.microsoft.com/office/drawing/2014/main" id="{65174462-14AF-796F-4016-5774E5D25D43}"/>
              </a:ext>
            </a:extLst>
          </p:cNvPr>
          <p:cNvSpPr/>
          <p:nvPr/>
        </p:nvSpPr>
        <p:spPr>
          <a:xfrm flipV="1">
            <a:off x="1967335" y="1067684"/>
            <a:ext cx="1979023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8701EB-2319-47E3-B2C0-D7AC558F2F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897" y="6286499"/>
            <a:ext cx="2362200" cy="29527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6A7DC852-C21F-4CC7-B235-88B570934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9479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B01FD165-348E-44AA-A5AE-8FFF6165D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146" y="1349041"/>
            <a:ext cx="10029707" cy="4651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>
            <a:extLst>
              <a:ext uri="{FF2B5EF4-FFF2-40B4-BE49-F238E27FC236}">
                <a16:creationId xmlns:a16="http://schemas.microsoft.com/office/drawing/2014/main" id="{875A6445-4C03-42E7-8A83-57120D875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949" y="5101389"/>
            <a:ext cx="99441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4418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F3862C7-6DAE-44F9-800A-BDE4E89E3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298"/>
            <a:ext cx="12192000" cy="6815404"/>
          </a:xfrm>
          <a:prstGeom prst="rect">
            <a:avLst/>
          </a:prstGeom>
        </p:spPr>
      </p:pic>
      <p:pic>
        <p:nvPicPr>
          <p:cNvPr id="279" name="Google Shape;2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9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723899" y="533400"/>
            <a:ext cx="950076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3800" b="1" i="0" u="none" strike="noStrike" dirty="0">
                <a:solidFill>
                  <a:srgbClr val="111827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Text</a:t>
            </a:r>
            <a:r>
              <a:rPr lang="en-US" sz="3800" b="1" i="0" dirty="0">
                <a:solidFill>
                  <a:srgbClr val="111827"/>
                </a:solidFill>
                <a:effectLst/>
                <a:latin typeface="Times" panose="02020603050405020304" pitchFamily="18" charset="0"/>
                <a:ea typeface="Arial" panose="020B0604020202020204" pitchFamily="34" charset="0"/>
                <a:cs typeface="Times" panose="02020603050405020304" pitchFamily="18" charset="0"/>
              </a:rPr>
              <a:t>-to-Speech</a:t>
            </a:r>
            <a:r>
              <a:rPr lang="en-US" sz="3800" b="1" i="0" u="none" strike="noStrike" dirty="0">
                <a:solidFill>
                  <a:srgbClr val="111827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3800" b="1" i="1" u="none" strike="noStrike" dirty="0">
                <a:solidFill>
                  <a:srgbClr val="F6AC3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(TTS) </a:t>
            </a:r>
            <a:r>
              <a:rPr lang="en-US" sz="3800" b="1" i="0" u="none" strike="noStrike" dirty="0">
                <a:solidFill>
                  <a:srgbClr val="111827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Engine Benchmark</a:t>
            </a:r>
            <a:endParaRPr lang="en-US" sz="3800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" name="Google Shape;234;p17">
            <a:extLst>
              <a:ext uri="{FF2B5EF4-FFF2-40B4-BE49-F238E27FC236}">
                <a16:creationId xmlns:a16="http://schemas.microsoft.com/office/drawing/2014/main" id="{65174462-14AF-796F-4016-5774E5D25D43}"/>
              </a:ext>
            </a:extLst>
          </p:cNvPr>
          <p:cNvSpPr/>
          <p:nvPr/>
        </p:nvSpPr>
        <p:spPr>
          <a:xfrm flipV="1">
            <a:off x="3918055" y="1110140"/>
            <a:ext cx="1254722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8701EB-2319-47E3-B2C0-D7AC558F2F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897" y="6286499"/>
            <a:ext cx="2362200" cy="29527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6A7DC852-C21F-4CC7-B235-88B570934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9479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2692604-9320-42B0-A064-AA21BE383F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930801"/>
              </p:ext>
            </p:extLst>
          </p:nvPr>
        </p:nvGraphicFramePr>
        <p:xfrm>
          <a:off x="1401015" y="1994692"/>
          <a:ext cx="9389969" cy="3438090"/>
        </p:xfrm>
        <a:graphic>
          <a:graphicData uri="http://schemas.openxmlformats.org/drawingml/2006/table">
            <a:tbl>
              <a:tblPr/>
              <a:tblGrid>
                <a:gridCol w="2083956">
                  <a:extLst>
                    <a:ext uri="{9D8B030D-6E8A-4147-A177-3AD203B41FA5}">
                      <a16:colId xmlns:a16="http://schemas.microsoft.com/office/drawing/2014/main" val="1910701118"/>
                    </a:ext>
                  </a:extLst>
                </a:gridCol>
                <a:gridCol w="1548777">
                  <a:extLst>
                    <a:ext uri="{9D8B030D-6E8A-4147-A177-3AD203B41FA5}">
                      <a16:colId xmlns:a16="http://schemas.microsoft.com/office/drawing/2014/main" val="2362993082"/>
                    </a:ext>
                  </a:extLst>
                </a:gridCol>
                <a:gridCol w="4094935">
                  <a:extLst>
                    <a:ext uri="{9D8B030D-6E8A-4147-A177-3AD203B41FA5}">
                      <a16:colId xmlns:a16="http://schemas.microsoft.com/office/drawing/2014/main" val="806048526"/>
                    </a:ext>
                  </a:extLst>
                </a:gridCol>
                <a:gridCol w="1662301">
                  <a:extLst>
                    <a:ext uri="{9D8B030D-6E8A-4147-A177-3AD203B41FA5}">
                      <a16:colId xmlns:a16="http://schemas.microsoft.com/office/drawing/2014/main" val="1899788972"/>
                    </a:ext>
                  </a:extLst>
                </a:gridCol>
              </a:tblGrid>
              <a:tr h="68873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TTS Provider</a:t>
                      </a:r>
                      <a:endParaRPr lang="en-US" sz="1800" i="0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TTFA Latency</a:t>
                      </a:r>
                      <a:endParaRPr lang="en-US" sz="1800" i="0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Expressiveness &amp; Voice Quality</a:t>
                      </a:r>
                      <a:endParaRPr lang="en-US" sz="1800" i="0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Cost Efficiency</a:t>
                      </a:r>
                      <a:endParaRPr lang="en-US" sz="1800" i="0" dirty="0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6062325"/>
                  </a:ext>
                </a:extLst>
              </a:tr>
              <a:tr h="68734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ElevenLabs Turbo v2.5</a:t>
                      </a:r>
                      <a:endParaRPr lang="en-US" sz="1800" i="0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&lt; 100 ms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Industry Lead (Highest emotional voice realism)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$0.030 / 1k Chars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720760"/>
                  </a:ext>
                </a:extLst>
              </a:tr>
              <a:tr h="68734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Cartesia Sonic-3</a:t>
                      </a:r>
                      <a:endParaRPr lang="en-US" sz="1800" i="0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~110 ms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Ultra-fast neural streaming with character controls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$0.015 / 1k Chars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627642"/>
                  </a:ext>
                </a:extLst>
              </a:tr>
              <a:tr h="68734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Gradium Neural TTS</a:t>
                      </a:r>
                      <a:endParaRPr lang="en-US" sz="1800" i="0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155 ms (P50)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Deterministic latency (#1 Coval benchmark)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$0.012 / 1k Chars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828101"/>
                  </a:ext>
                </a:extLst>
              </a:tr>
              <a:tr h="68734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 err="1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Deepgram</a:t>
                      </a:r>
                      <a:r>
                        <a:rPr lang="en-US" sz="1800" b="1" i="0" u="none" strike="noStrike" dirty="0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Aura</a:t>
                      </a:r>
                      <a:endParaRPr lang="en-US" sz="1800" i="0" dirty="0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~120 ms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High throughput optimized for contact centers</a:t>
                      </a:r>
                      <a:endParaRPr lang="en-US" sz="1800" i="1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u="none" strike="noStrike" dirty="0">
                          <a:solidFill>
                            <a:srgbClr val="37415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$0.015 / 1k Chars</a:t>
                      </a:r>
                      <a:endParaRPr lang="en-US" sz="1800" i="1" dirty="0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49747" marR="49747" marT="21320" marB="213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55849"/>
                  </a:ext>
                </a:extLst>
              </a:tr>
            </a:tbl>
          </a:graphicData>
        </a:graphic>
      </p:graphicFrame>
      <p:sp>
        <p:nvSpPr>
          <p:cNvPr id="15" name="Google Shape;234;p17">
            <a:extLst>
              <a:ext uri="{FF2B5EF4-FFF2-40B4-BE49-F238E27FC236}">
                <a16:creationId xmlns:a16="http://schemas.microsoft.com/office/drawing/2014/main" id="{0150B7D2-B678-4D96-98DC-228A0DDA9373}"/>
              </a:ext>
            </a:extLst>
          </p:cNvPr>
          <p:cNvSpPr/>
          <p:nvPr/>
        </p:nvSpPr>
        <p:spPr>
          <a:xfrm flipV="1">
            <a:off x="4055215" y="1110139"/>
            <a:ext cx="45719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7963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78041C9-5913-48B2-A57C-A4646EDC0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298"/>
            <a:ext cx="12192000" cy="6815404"/>
          </a:xfrm>
          <a:prstGeom prst="rect">
            <a:avLst/>
          </a:prstGeom>
        </p:spPr>
      </p:pic>
      <p:pic>
        <p:nvPicPr>
          <p:cNvPr id="279" name="Google Shape;2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9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723899" y="537131"/>
            <a:ext cx="950076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3800" b="1" dirty="0">
                <a:latin typeface="Times" panose="02020603050405020304" pitchFamily="18" charset="0"/>
                <a:cs typeface="Times" panose="02020603050405020304" pitchFamily="18" charset="0"/>
              </a:rPr>
              <a:t>STT </a:t>
            </a:r>
            <a:r>
              <a:rPr lang="en-US" sz="3800" b="1" i="1" dirty="0">
                <a:solidFill>
                  <a:srgbClr val="F6AC3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&amp;</a:t>
            </a:r>
            <a:r>
              <a:rPr lang="en-US" sz="3800" b="1" dirty="0">
                <a:latin typeface="Times" panose="02020603050405020304" pitchFamily="18" charset="0"/>
                <a:cs typeface="Times" panose="02020603050405020304" pitchFamily="18" charset="0"/>
              </a:rPr>
              <a:t> TTS </a:t>
            </a:r>
            <a:r>
              <a:rPr lang="en-US" sz="3800" b="1" i="1" dirty="0">
                <a:solidFill>
                  <a:srgbClr val="F6AC3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Use</a:t>
            </a:r>
            <a:r>
              <a:rPr lang="en-US" sz="3800" b="1" dirty="0">
                <a:latin typeface="Times" panose="02020603050405020304" pitchFamily="18" charset="0"/>
                <a:cs typeface="Times" panose="02020603050405020304" pitchFamily="18" charset="0"/>
              </a:rPr>
              <a:t> Cases</a:t>
            </a:r>
            <a:endParaRPr lang="en-US" sz="3800" b="1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" name="Google Shape;234;p17">
            <a:extLst>
              <a:ext uri="{FF2B5EF4-FFF2-40B4-BE49-F238E27FC236}">
                <a16:creationId xmlns:a16="http://schemas.microsoft.com/office/drawing/2014/main" id="{65174462-14AF-796F-4016-5774E5D25D43}"/>
              </a:ext>
            </a:extLst>
          </p:cNvPr>
          <p:cNvSpPr/>
          <p:nvPr/>
        </p:nvSpPr>
        <p:spPr>
          <a:xfrm flipV="1">
            <a:off x="1733997" y="1076186"/>
            <a:ext cx="414843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8701EB-2319-47E3-B2C0-D7AC558F2F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897" y="6286499"/>
            <a:ext cx="2362200" cy="295275"/>
          </a:xfrm>
          <a:prstGeom prst="rect">
            <a:avLst/>
          </a:prstGeom>
        </p:spPr>
      </p:pic>
      <p:sp>
        <p:nvSpPr>
          <p:cNvPr id="12" name="Google Shape;234;p17">
            <a:extLst>
              <a:ext uri="{FF2B5EF4-FFF2-40B4-BE49-F238E27FC236}">
                <a16:creationId xmlns:a16="http://schemas.microsoft.com/office/drawing/2014/main" id="{9A97254E-A68F-4AD5-AE5F-9E62D49408ED}"/>
              </a:ext>
            </a:extLst>
          </p:cNvPr>
          <p:cNvSpPr/>
          <p:nvPr/>
        </p:nvSpPr>
        <p:spPr>
          <a:xfrm flipV="1">
            <a:off x="3334197" y="1057136"/>
            <a:ext cx="856803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6CE97D-111C-4B97-88B7-AE84A98FBF4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125" t="16300" r="3375"/>
          <a:stretch/>
        </p:blipFill>
        <p:spPr>
          <a:xfrm>
            <a:off x="1733997" y="1450877"/>
            <a:ext cx="8869680" cy="433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1591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34;p17">
            <a:extLst>
              <a:ext uri="{FF2B5EF4-FFF2-40B4-BE49-F238E27FC236}">
                <a16:creationId xmlns:a16="http://schemas.microsoft.com/office/drawing/2014/main" id="{07652B8D-938F-46D9-8FFD-EEDD9E35B5B2}"/>
              </a:ext>
            </a:extLst>
          </p:cNvPr>
          <p:cNvSpPr/>
          <p:nvPr/>
        </p:nvSpPr>
        <p:spPr>
          <a:xfrm flipV="1">
            <a:off x="5051643" y="2216831"/>
            <a:ext cx="45719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2CF879-FA53-4072-B55D-C54FCA626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298"/>
            <a:ext cx="12192000" cy="6815404"/>
          </a:xfrm>
          <a:prstGeom prst="rect">
            <a:avLst/>
          </a:prstGeom>
        </p:spPr>
      </p:pic>
      <p:pic>
        <p:nvPicPr>
          <p:cNvPr id="279" name="Google Shape;2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9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723899" y="533400"/>
            <a:ext cx="950076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/>
            <a:r>
              <a:rPr lang="en-US" sz="3800" b="1" i="0" dirty="0">
                <a:solidFill>
                  <a:srgbClr val="1F2937"/>
                </a:solidFill>
                <a:effectLst/>
                <a:latin typeface="Times New Roman" panose="02020603050405020304" pitchFamily="18" charset="0"/>
              </a:rPr>
              <a:t>System Prompt </a:t>
            </a:r>
            <a:r>
              <a:rPr lang="en-US" sz="3800" b="1" i="1" dirty="0">
                <a:solidFill>
                  <a:srgbClr val="F6AC31"/>
                </a:solidFill>
                <a:effectLst/>
                <a:latin typeface="Times New Roman" panose="02020603050405020304" pitchFamily="18" charset="0"/>
              </a:rPr>
              <a:t>Architecture</a:t>
            </a:r>
          </a:p>
        </p:txBody>
      </p:sp>
      <p:sp>
        <p:nvSpPr>
          <p:cNvPr id="4" name="Google Shape;234;p17">
            <a:extLst>
              <a:ext uri="{FF2B5EF4-FFF2-40B4-BE49-F238E27FC236}">
                <a16:creationId xmlns:a16="http://schemas.microsoft.com/office/drawing/2014/main" id="{65174462-14AF-796F-4016-5774E5D25D43}"/>
              </a:ext>
            </a:extLst>
          </p:cNvPr>
          <p:cNvSpPr/>
          <p:nvPr/>
        </p:nvSpPr>
        <p:spPr>
          <a:xfrm flipV="1">
            <a:off x="3956556" y="1072455"/>
            <a:ext cx="2508412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8701EB-2319-47E3-B2C0-D7AC558F2F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897" y="6286499"/>
            <a:ext cx="2362200" cy="29527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6A7DC852-C21F-4CC7-B235-88B570934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9479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74A0F533-1E79-4C50-9FF7-295A015AD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897" y="2114550"/>
            <a:ext cx="5353050" cy="212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>
            <a:extLst>
              <a:ext uri="{FF2B5EF4-FFF2-40B4-BE49-F238E27FC236}">
                <a16:creationId xmlns:a16="http://schemas.microsoft.com/office/drawing/2014/main" id="{E095E941-60A4-460C-96A4-F9B4A0EB6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055" y="2114549"/>
            <a:ext cx="5353050" cy="212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008A471-C094-40AB-9F26-41945F449F1D}"/>
              </a:ext>
            </a:extLst>
          </p:cNvPr>
          <p:cNvSpPr txBox="1"/>
          <p:nvPr/>
        </p:nvSpPr>
        <p:spPr>
          <a:xfrm>
            <a:off x="552895" y="2249746"/>
            <a:ext cx="63286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111827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Persona &amp; Style </a:t>
            </a:r>
            <a:r>
              <a:rPr lang="en-US" sz="2000" b="1" i="0" u="none" strike="noStrike" dirty="0" err="1">
                <a:solidFill>
                  <a:srgbClr val="111827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Constraiqnts</a:t>
            </a:r>
            <a:endParaRPr lang="en-US" sz="2000" b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3672CB-60F9-4283-A394-E74A426CE11B}"/>
              </a:ext>
            </a:extLst>
          </p:cNvPr>
          <p:cNvSpPr txBox="1"/>
          <p:nvPr/>
        </p:nvSpPr>
        <p:spPr>
          <a:xfrm>
            <a:off x="6286055" y="2249745"/>
            <a:ext cx="63286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111827"/>
                </a:solidFill>
                <a:effectLst/>
                <a:latin typeface="Times New Roman" panose="02020603050405020304" pitchFamily="18" charset="0"/>
              </a:rPr>
              <a:t>State Machine Logic Rules</a:t>
            </a:r>
            <a:endParaRPr lang="en-US" sz="2000" dirty="0"/>
          </a:p>
        </p:txBody>
      </p:sp>
      <p:pic>
        <p:nvPicPr>
          <p:cNvPr id="11272" name="Picture 8">
            <a:extLst>
              <a:ext uri="{FF2B5EF4-FFF2-40B4-BE49-F238E27FC236}">
                <a16:creationId xmlns:a16="http://schemas.microsoft.com/office/drawing/2014/main" id="{AF424CE3-20C0-4B86-8DEC-63FBFB725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698" y="2853482"/>
            <a:ext cx="476250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4" name="Picture 10">
            <a:extLst>
              <a:ext uri="{FF2B5EF4-FFF2-40B4-BE49-F238E27FC236}">
                <a16:creationId xmlns:a16="http://schemas.microsoft.com/office/drawing/2014/main" id="{81E35247-15B0-4B21-B828-F1E895D58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1377" y="2880953"/>
            <a:ext cx="476250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2E63206-81B8-4165-80ED-B8DF500022A0}"/>
              </a:ext>
            </a:extLst>
          </p:cNvPr>
          <p:cNvSpPr txBox="1"/>
          <p:nvPr/>
        </p:nvSpPr>
        <p:spPr>
          <a:xfrm>
            <a:off x="3949155" y="4351705"/>
            <a:ext cx="467379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Write a complete system prompt for a voice AI receptionist... </a:t>
            </a:r>
          </a:p>
          <a:p>
            <a:r>
              <a:rPr lang="en-US" b="1" i="1" dirty="0">
                <a:latin typeface="Times" panose="02020603050405020304" pitchFamily="18" charset="0"/>
                <a:cs typeface="Times" panose="02020603050405020304" pitchFamily="18" charset="0"/>
              </a:rPr>
              <a:t>Include: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i="1" dirty="0">
                <a:latin typeface="Times" panose="02020603050405020304" pitchFamily="18" charset="0"/>
                <a:cs typeface="Times" panose="02020603050405020304" pitchFamily="18" charset="0"/>
              </a:rPr>
              <a:t>Persona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i="1" dirty="0">
                <a:latin typeface="Times" panose="02020603050405020304" pitchFamily="18" charset="0"/>
                <a:cs typeface="Times" panose="02020603050405020304" pitchFamily="18" charset="0"/>
              </a:rPr>
              <a:t>Business Information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i="1" dirty="0">
                <a:latin typeface="Times" panose="02020603050405020304" pitchFamily="18" charset="0"/>
                <a:cs typeface="Times" panose="02020603050405020304" pitchFamily="18" charset="0"/>
              </a:rPr>
              <a:t>Rules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i="1" dirty="0">
                <a:latin typeface="Times" panose="02020603050405020304" pitchFamily="18" charset="0"/>
                <a:cs typeface="Times" panose="02020603050405020304" pitchFamily="18" charset="0"/>
              </a:rPr>
              <a:t>FAQs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i="1" dirty="0">
                <a:latin typeface="Times" panose="02020603050405020304" pitchFamily="18" charset="0"/>
                <a:cs typeface="Times" panose="02020603050405020304" pitchFamily="18" charset="0"/>
              </a:rPr>
              <a:t>Escalation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i="1" dirty="0">
                <a:latin typeface="Times" panose="02020603050405020304" pitchFamily="18" charset="0"/>
                <a:cs typeface="Times" panose="02020603050405020304" pitchFamily="18" charset="0"/>
              </a:rPr>
              <a:t>Tone</a:t>
            </a:r>
          </a:p>
        </p:txBody>
      </p:sp>
    </p:spTree>
    <p:extLst>
      <p:ext uri="{BB962C8B-B14F-4D97-AF65-F5344CB8AC3E}">
        <p14:creationId xmlns:p14="http://schemas.microsoft.com/office/powerpoint/2010/main" val="331534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3D85697-5CEC-48B5-AAFF-C51486E8C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298"/>
            <a:ext cx="12192000" cy="6815404"/>
          </a:xfrm>
          <a:prstGeom prst="rect">
            <a:avLst/>
          </a:prstGeom>
        </p:spPr>
      </p:pic>
      <p:pic>
        <p:nvPicPr>
          <p:cNvPr id="279" name="Google Shape;2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9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723899" y="533400"/>
            <a:ext cx="950076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800" b="1" dirty="0">
                <a:latin typeface="Times" panose="02020603050405020304" pitchFamily="18" charset="0"/>
                <a:cs typeface="Times" panose="02020603050405020304" pitchFamily="18" charset="0"/>
              </a:rPr>
              <a:t>Interruptions &amp; Barge-In </a:t>
            </a:r>
            <a:r>
              <a:rPr lang="en-US" sz="3800" b="1" i="1" dirty="0">
                <a:solidFill>
                  <a:srgbClr val="F6AC3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Optimization</a:t>
            </a:r>
          </a:p>
        </p:txBody>
      </p:sp>
      <p:sp>
        <p:nvSpPr>
          <p:cNvPr id="4" name="Google Shape;234;p17">
            <a:extLst>
              <a:ext uri="{FF2B5EF4-FFF2-40B4-BE49-F238E27FC236}">
                <a16:creationId xmlns:a16="http://schemas.microsoft.com/office/drawing/2014/main" id="{65174462-14AF-796F-4016-5774E5D25D43}"/>
              </a:ext>
            </a:extLst>
          </p:cNvPr>
          <p:cNvSpPr/>
          <p:nvPr/>
        </p:nvSpPr>
        <p:spPr>
          <a:xfrm flipV="1">
            <a:off x="6096000" y="1114962"/>
            <a:ext cx="2508412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8701EB-2319-47E3-B2C0-D7AC558F2F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897" y="6286499"/>
            <a:ext cx="2362200" cy="29527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6A7DC852-C21F-4CC7-B235-88B570934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9479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FC79A3-2340-4987-9898-267B10806F35}"/>
              </a:ext>
            </a:extLst>
          </p:cNvPr>
          <p:cNvSpPr txBox="1"/>
          <p:nvPr/>
        </p:nvSpPr>
        <p:spPr>
          <a:xfrm>
            <a:off x="833701" y="1403923"/>
            <a:ext cx="464058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" panose="02020603050405020304" pitchFamily="18" charset="0"/>
                <a:cs typeface="Times" panose="02020603050405020304" pitchFamily="18" charset="0"/>
              </a:rPr>
              <a:t>Semantic VAD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" panose="02020603050405020304" pitchFamily="18" charset="0"/>
                <a:cs typeface="Times" panose="02020603050405020304" pitchFamily="18" charset="0"/>
              </a:rPr>
              <a:t>Detects real user interruptions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" panose="02020603050405020304" pitchFamily="18" charset="0"/>
                <a:cs typeface="Times" panose="02020603050405020304" pitchFamily="18" charset="0"/>
              </a:rPr>
              <a:t>Ignores backchannel responses and noise</a:t>
            </a:r>
          </a:p>
          <a:p>
            <a:endParaRPr lang="en-US" sz="16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1800" b="1" dirty="0">
                <a:latin typeface="Times" panose="02020603050405020304" pitchFamily="18" charset="0"/>
                <a:cs typeface="Times" panose="02020603050405020304" pitchFamily="18" charset="0"/>
              </a:rPr>
              <a:t>Instant Audio Mute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" panose="02020603050405020304" pitchFamily="18" charset="0"/>
                <a:cs typeface="Times" panose="02020603050405020304" pitchFamily="18" charset="0"/>
              </a:rPr>
              <a:t>Stops AI audio immediately on user speech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" panose="02020603050405020304" pitchFamily="18" charset="0"/>
                <a:cs typeface="Times" panose="02020603050405020304" pitchFamily="18" charset="0"/>
              </a:rPr>
              <a:t>Clears audio buffer with minimal latency</a:t>
            </a:r>
          </a:p>
          <a:p>
            <a:endParaRPr lang="en-US" sz="16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1800" b="1" dirty="0">
                <a:latin typeface="Times" panose="02020603050405020304" pitchFamily="18" charset="0"/>
                <a:cs typeface="Times" panose="02020603050405020304" pitchFamily="18" charset="0"/>
              </a:rPr>
              <a:t>State Rollback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" panose="02020603050405020304" pitchFamily="18" charset="0"/>
                <a:cs typeface="Times" panose="02020603050405020304" pitchFamily="18" charset="0"/>
              </a:rPr>
              <a:t>Cancels ongoing LLM response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" panose="02020603050405020304" pitchFamily="18" charset="0"/>
                <a:cs typeface="Times" panose="02020603050405020304" pitchFamily="18" charset="0"/>
              </a:rPr>
              <a:t>Re-prompts using the latest user input</a:t>
            </a:r>
          </a:p>
          <a:p>
            <a:endParaRPr lang="en-US" sz="16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1800" b="1" dirty="0">
                <a:latin typeface="Times" panose="02020603050405020304" pitchFamily="18" charset="0"/>
                <a:cs typeface="Times" panose="02020603050405020304" pitchFamily="18" charset="0"/>
              </a:rPr>
              <a:t>Latency Optimization</a:t>
            </a: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" panose="02020603050405020304" pitchFamily="18" charset="0"/>
                <a:cs typeface="Times" panose="02020603050405020304" pitchFamily="18" charset="0"/>
              </a:rPr>
              <a:t>Use WebSocket streaming for STT/TTS</a:t>
            </a: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" panose="02020603050405020304" pitchFamily="18" charset="0"/>
                <a:cs typeface="Times" panose="02020603050405020304" pitchFamily="18" charset="0"/>
              </a:rPr>
              <a:t>Stream LLM tokens directly to TTS</a:t>
            </a: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" panose="02020603050405020304" pitchFamily="18" charset="0"/>
                <a:cs typeface="Times" panose="02020603050405020304" pitchFamily="18" charset="0"/>
              </a:rPr>
              <a:t>Keep system prompts concise</a:t>
            </a: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" panose="02020603050405020304" pitchFamily="18" charset="0"/>
                <a:cs typeface="Times" panose="02020603050405020304" pitchFamily="18" charset="0"/>
              </a:rPr>
              <a:t>Minimize end-to-end response latency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BED16B-CC86-4280-917A-4C114D2C75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3265" y="1502569"/>
            <a:ext cx="3714750" cy="2133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463834-1824-4EB0-A3ED-4E01D41E00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3265" y="3675160"/>
            <a:ext cx="3638550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471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8BF7F23-FAA8-4FFB-9315-5B475EE4C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298"/>
            <a:ext cx="12192000" cy="6815404"/>
          </a:xfrm>
          <a:prstGeom prst="rect">
            <a:avLst/>
          </a:prstGeom>
        </p:spPr>
      </p:pic>
      <p:pic>
        <p:nvPicPr>
          <p:cNvPr id="279" name="Google Shape;2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9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723899" y="533400"/>
            <a:ext cx="950076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800" b="1" dirty="0">
                <a:latin typeface="Times" panose="02020603050405020304" pitchFamily="18" charset="0"/>
                <a:cs typeface="Times" panose="02020603050405020304" pitchFamily="18" charset="0"/>
              </a:rPr>
              <a:t>Building a </a:t>
            </a:r>
            <a:r>
              <a:rPr lang="en-US" sz="3800" b="1" i="1" dirty="0">
                <a:solidFill>
                  <a:srgbClr val="F6AC3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Voice Agent</a:t>
            </a:r>
            <a:r>
              <a:rPr lang="en-US" sz="3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: </a:t>
            </a:r>
            <a:r>
              <a:rPr lang="en-US" sz="2800" b="1" i="1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Live Build Flow</a:t>
            </a:r>
          </a:p>
        </p:txBody>
      </p:sp>
      <p:sp>
        <p:nvSpPr>
          <p:cNvPr id="4" name="Google Shape;234;p17">
            <a:extLst>
              <a:ext uri="{FF2B5EF4-FFF2-40B4-BE49-F238E27FC236}">
                <a16:creationId xmlns:a16="http://schemas.microsoft.com/office/drawing/2014/main" id="{65174462-14AF-796F-4016-5774E5D25D43}"/>
              </a:ext>
            </a:extLst>
          </p:cNvPr>
          <p:cNvSpPr/>
          <p:nvPr/>
        </p:nvSpPr>
        <p:spPr>
          <a:xfrm flipV="1">
            <a:off x="2915097" y="1072456"/>
            <a:ext cx="2508412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8701EB-2319-47E3-B2C0-D7AC558F2F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897" y="6286499"/>
            <a:ext cx="2362200" cy="29527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6A7DC852-C21F-4CC7-B235-88B570934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9479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DCCE50-553E-4BC5-B3D7-EE4CA54EBDD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750" t="12416" r="2500"/>
          <a:stretch/>
        </p:blipFill>
        <p:spPr>
          <a:xfrm>
            <a:off x="1599641" y="1403924"/>
            <a:ext cx="8992717" cy="4582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27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528;p27" descr="image.png">
            <a:extLst>
              <a:ext uri="{FF2B5EF4-FFF2-40B4-BE49-F238E27FC236}">
                <a16:creationId xmlns:a16="http://schemas.microsoft.com/office/drawing/2014/main" id="{A0CFF66A-7738-4940-B40F-C214254577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6200" y="0"/>
            <a:ext cx="122682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899" y="3079687"/>
            <a:ext cx="2578893" cy="179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5667" y="3079688"/>
            <a:ext cx="2578893" cy="1791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67436" y="3079687"/>
            <a:ext cx="2578893" cy="1791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89205" y="3079688"/>
            <a:ext cx="2578893" cy="1791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799033" y="3298763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2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20802" y="3298763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2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242570" y="3298763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2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964339" y="3298763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2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26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515" name="Google Shape;515;p26"/>
          <p:cNvSpPr txBox="1"/>
          <p:nvPr/>
        </p:nvSpPr>
        <p:spPr>
          <a:xfrm>
            <a:off x="981074" y="3975648"/>
            <a:ext cx="2064543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Agents don't just answer</a:t>
            </a:r>
            <a:endParaRPr sz="20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16" name="Google Shape;516;p26"/>
          <p:cNvSpPr txBox="1"/>
          <p:nvPr/>
        </p:nvSpPr>
        <p:spPr>
          <a:xfrm>
            <a:off x="3667498" y="3975648"/>
            <a:ext cx="2259032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Memory matters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Tools enable actions</a:t>
            </a:r>
            <a:endParaRPr sz="16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18" name="Google Shape;518;p26"/>
          <p:cNvSpPr txBox="1"/>
          <p:nvPr/>
        </p:nvSpPr>
        <p:spPr>
          <a:xfrm>
            <a:off x="6508260" y="3975647"/>
            <a:ext cx="1897243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Voice = </a:t>
            </a:r>
            <a:r>
              <a:rPr lang="en-US" sz="2000" b="1" i="1" dirty="0">
                <a:latin typeface="Times" panose="02020603050405020304" pitchFamily="18" charset="0"/>
                <a:cs typeface="Times" panose="02020603050405020304" pitchFamily="18" charset="0"/>
              </a:rPr>
              <a:t>STT + LLM + TTS</a:t>
            </a:r>
            <a:endParaRPr sz="1600" b="1" i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22" name="Google Shape;522;p26"/>
          <p:cNvSpPr txBox="1"/>
          <p:nvPr/>
        </p:nvSpPr>
        <p:spPr>
          <a:xfrm>
            <a:off x="723900" y="533400"/>
            <a:ext cx="712373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 dirty="0">
                <a:solidFill>
                  <a:srgbClr val="0F172A"/>
                </a:solidFill>
                <a:latin typeface="Times"/>
                <a:ea typeface="Times"/>
                <a:cs typeface="Times"/>
                <a:sym typeface="Times"/>
              </a:rPr>
              <a:t>WHAT WE LEARNED</a:t>
            </a:r>
            <a:endParaRPr sz="3800" b="1" dirty="0"/>
          </a:p>
        </p:txBody>
      </p:sp>
      <p:sp>
        <p:nvSpPr>
          <p:cNvPr id="523" name="Google Shape;523;p26"/>
          <p:cNvSpPr/>
          <p:nvPr/>
        </p:nvSpPr>
        <p:spPr>
          <a:xfrm>
            <a:off x="833120" y="1072456"/>
            <a:ext cx="4846320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29ED1D-E95A-4B46-BBF3-2272AE92AFC8}"/>
              </a:ext>
            </a:extLst>
          </p:cNvPr>
          <p:cNvSpPr txBox="1"/>
          <p:nvPr/>
        </p:nvSpPr>
        <p:spPr>
          <a:xfrm>
            <a:off x="9061787" y="3929480"/>
            <a:ext cx="22590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STT, LLM, and TTS in action.</a:t>
            </a:r>
            <a:endParaRPr lang="en-US" sz="2000" b="0" i="0" dirty="0"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1EFB5C-E5CD-4329-97CC-588AC4ACD29C}"/>
              </a:ext>
            </a:extLst>
          </p:cNvPr>
          <p:cNvSpPr txBox="1"/>
          <p:nvPr/>
        </p:nvSpPr>
        <p:spPr>
          <a:xfrm>
            <a:off x="833120" y="142163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1600" i="1" dirty="0">
                <a:solidFill>
                  <a:srgbClr val="5E6E82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The building blocks of intelligent voice assistants.</a:t>
            </a:r>
          </a:p>
          <a:p>
            <a:pPr lvl="1"/>
            <a:r>
              <a:rPr lang="en-US" sz="1600" i="1" dirty="0">
                <a:solidFill>
                  <a:srgbClr val="5E6E82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Turning conversations into intelligent actions.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CE1375C-B31C-49BA-A3AD-17BF181FD9F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2897" y="6286499"/>
            <a:ext cx="2362200" cy="2952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61D46C-E53A-4ED8-A976-A2A222C0F58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75268" y="180911"/>
            <a:ext cx="3589279" cy="2618366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6200" y="0"/>
            <a:ext cx="122682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47873" y="2837918"/>
            <a:ext cx="8096250" cy="1182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27"/>
          <p:cNvSpPr txBox="1"/>
          <p:nvPr/>
        </p:nvSpPr>
        <p:spPr>
          <a:xfrm>
            <a:off x="1852016" y="1136333"/>
            <a:ext cx="8501062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1" dirty="0">
                <a:latin typeface="Times" panose="02020603050405020304" pitchFamily="18" charset="0"/>
                <a:cs typeface="Times" panose="02020603050405020304" pitchFamily="18" charset="0"/>
              </a:rPr>
              <a:t>Innovation </a:t>
            </a:r>
            <a:r>
              <a:rPr lang="en-US" sz="4000" b="1" dirty="0">
                <a:solidFill>
                  <a:srgbClr val="F6AC3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Begins</a:t>
            </a:r>
            <a:r>
              <a:rPr lang="en-US" sz="4000" b="1" i="1" dirty="0">
                <a:latin typeface="Times" panose="02020603050405020304" pitchFamily="18" charset="0"/>
                <a:cs typeface="Times" panose="02020603050405020304" pitchFamily="18" charset="0"/>
              </a:rPr>
              <a:t> with Curiosity</a:t>
            </a:r>
            <a:endParaRPr sz="4000" b="1" i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35" name="Google Shape;535;p27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536" name="Google Shape;536;p27"/>
          <p:cNvSpPr txBox="1"/>
          <p:nvPr/>
        </p:nvSpPr>
        <p:spPr>
          <a:xfrm>
            <a:off x="2673355" y="2967335"/>
            <a:ext cx="685838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u="none" strike="noStrike" cap="none" dirty="0">
                <a:solidFill>
                  <a:srgbClr val="5E6E82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"</a:t>
            </a:r>
            <a:r>
              <a:rPr lang="en-US" sz="2000" i="1" dirty="0">
                <a:solidFill>
                  <a:srgbClr val="5E6E82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We moved from bots that reply… to agents that actually get things done. Revolutionary, right?</a:t>
            </a:r>
            <a:r>
              <a:rPr lang="en-US" sz="2000" i="1" u="none" strike="noStrike" cap="none" dirty="0">
                <a:solidFill>
                  <a:srgbClr val="5E6E82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"</a:t>
            </a:r>
            <a:endParaRPr sz="2000" i="1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537" name="Google Shape;537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73443" y="4644390"/>
            <a:ext cx="270897" cy="238715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27"/>
          <p:cNvSpPr txBox="1"/>
          <p:nvPr/>
        </p:nvSpPr>
        <p:spPr>
          <a:xfrm>
            <a:off x="4320540" y="4554378"/>
            <a:ext cx="120238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Q&amp;A Session</a:t>
            </a:r>
            <a:endParaRPr sz="1600" dirty="0"/>
          </a:p>
        </p:txBody>
      </p:sp>
      <p:pic>
        <p:nvPicPr>
          <p:cNvPr id="539" name="Google Shape;539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67236" y="4716598"/>
            <a:ext cx="244912" cy="19812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27"/>
          <p:cNvSpPr txBox="1"/>
          <p:nvPr/>
        </p:nvSpPr>
        <p:spPr>
          <a:xfrm>
            <a:off x="6712148" y="4644390"/>
            <a:ext cx="120238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aiseason.tech</a:t>
            </a:r>
            <a:endParaRPr sz="1600" dirty="0"/>
          </a:p>
        </p:txBody>
      </p:sp>
      <p:sp>
        <p:nvSpPr>
          <p:cNvPr id="4" name="Google Shape;234;p17">
            <a:extLst>
              <a:ext uri="{FF2B5EF4-FFF2-40B4-BE49-F238E27FC236}">
                <a16:creationId xmlns:a16="http://schemas.microsoft.com/office/drawing/2014/main" id="{F0F44813-3828-E766-58C3-4F0DD0FFCAB4}"/>
              </a:ext>
            </a:extLst>
          </p:cNvPr>
          <p:cNvSpPr/>
          <p:nvPr/>
        </p:nvSpPr>
        <p:spPr>
          <a:xfrm flipV="1">
            <a:off x="5475514" y="1779005"/>
            <a:ext cx="544286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44AB22-E166-425D-8EBE-974B30D8C3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2897" y="6286499"/>
            <a:ext cx="2362200" cy="2952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BFCD64D-A8AE-4776-9EEE-BC316C0F1493}"/>
              </a:ext>
            </a:extLst>
          </p:cNvPr>
          <p:cNvSpPr txBox="1"/>
          <p:nvPr/>
        </p:nvSpPr>
        <p:spPr>
          <a:xfrm>
            <a:off x="4267986" y="5591330"/>
            <a:ext cx="35798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Designed by </a:t>
            </a:r>
            <a:r>
              <a:rPr lang="en-US" sz="2000" i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-</a:t>
            </a:r>
            <a:r>
              <a:rPr lang="en-US" sz="2000" b="0" i="1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Syeda Sara Ali</a:t>
            </a:r>
            <a:endParaRPr lang="en-US" sz="20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894</TotalTime>
  <Words>1171</Words>
  <Application>Microsoft Office PowerPoint</Application>
  <PresentationFormat>Widescreen</PresentationFormat>
  <Paragraphs>230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Times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Syeda Sara Ali</dc:creator>
  <cp:lastModifiedBy>Syeda Sara Ali</cp:lastModifiedBy>
  <cp:revision>43</cp:revision>
  <dcterms:modified xsi:type="dcterms:W3CDTF">2026-07-27T09:35:47Z</dcterms:modified>
</cp:coreProperties>
</file>