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72" r:id="rId2"/>
    <p:sldId id="273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75" r:id="rId11"/>
    <p:sldId id="264" r:id="rId12"/>
    <p:sldId id="265" r:id="rId13"/>
    <p:sldId id="276" r:id="rId14"/>
    <p:sldId id="266" r:id="rId15"/>
    <p:sldId id="267" r:id="rId16"/>
    <p:sldId id="269" r:id="rId17"/>
    <p:sldId id="277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C31"/>
    <a:srgbClr val="5E6E82"/>
    <a:srgbClr val="EED89A"/>
    <a:srgbClr val="FAD394"/>
    <a:srgbClr val="F7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AFA99F-FCA9-453E-AFA9-369AAF2F4BA3}">
  <a:tblStyle styleId="{6CAFA99F-FCA9-453E-AFA9-369AAF2F4B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503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1233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0670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99673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GB"/>
              <a:t>BY SYEDA SARA ALI</a:t>
            </a:r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microsoft.com/office/2007/relationships/hdphoto" Target="../media/hdphoto5.wdp"/><Relationship Id="rId5" Type="http://schemas.openxmlformats.org/officeDocument/2006/relationships/image" Target="../media/image10.png"/><Relationship Id="rId10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microsoft.com/office/2007/relationships/hdphoto" Target="../media/hdphoto4.wdp"/><Relationship Id="rId1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10.png"/><Relationship Id="rId10" Type="http://schemas.microsoft.com/office/2007/relationships/hdphoto" Target="../media/hdphoto7.wdp"/><Relationship Id="rId4" Type="http://schemas.openxmlformats.org/officeDocument/2006/relationships/image" Target="../media/image8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8.wdp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8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0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203;p17" descr="image.png">
            <a:extLst>
              <a:ext uri="{FF2B5EF4-FFF2-40B4-BE49-F238E27FC236}">
                <a16:creationId xmlns:a16="http://schemas.microsoft.com/office/drawing/2014/main" id="{716D49D9-C016-445B-B119-0951771857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8744" y="61817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340100" y="6494277"/>
            <a:ext cx="228302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DAY 2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598794" y="6215062"/>
            <a:ext cx="10121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500" b="1" i="0" u="none" strike="noStrike" cap="none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430685" y="493337"/>
            <a:ext cx="11048301" cy="226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4350" b="1" i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Prompt</a:t>
            </a:r>
            <a:r>
              <a:rPr lang="en-GB" sz="4350" b="1" dirty="0">
                <a:latin typeface="Times" panose="02020603050405020304" pitchFamily="18" charset="0"/>
                <a:cs typeface="Times" panose="02020603050405020304" pitchFamily="18" charset="0"/>
              </a:rPr>
              <a:t> Engineering &amp; </a:t>
            </a:r>
            <a:r>
              <a:rPr lang="en-GB" sz="4350" b="1" i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Agent</a:t>
            </a:r>
            <a:r>
              <a:rPr lang="en-GB" sz="4350" b="1" dirty="0">
                <a:latin typeface="Times" panose="02020603050405020304" pitchFamily="18" charset="0"/>
                <a:cs typeface="Times" panose="02020603050405020304" pitchFamily="18" charset="0"/>
              </a:rPr>
              <a:t> Architectures</a:t>
            </a:r>
            <a:endParaRPr lang="en-US" sz="435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latin typeface="Times" panose="02020603050405020304" pitchFamily="18" charset="0"/>
                <a:cs typeface="Times" panose="02020603050405020304" pitchFamily="18" charset="0"/>
              </a:rPr>
              <a:t>AI Season Bootcamp – </a:t>
            </a:r>
            <a:r>
              <a:rPr lang="en-US" sz="3000" i="1" dirty="0">
                <a:solidFill>
                  <a:srgbClr val="F5A623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Session 2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430685" y="2936135"/>
            <a:ext cx="660171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1600" dirty="0">
                <a:solidFill>
                  <a:srgbClr val="5E6E82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Master the art of communicating with AI, designing intelligent autonomous loops, and building programs faster using natural language workflows.</a:t>
            </a:r>
          </a:p>
        </p:txBody>
      </p:sp>
      <p:sp>
        <p:nvSpPr>
          <p:cNvPr id="96" name="Google Shape;96;p13"/>
          <p:cNvSpPr txBox="1"/>
          <p:nvPr/>
        </p:nvSpPr>
        <p:spPr>
          <a:xfrm>
            <a:off x="1880603" y="4590220"/>
            <a:ext cx="31689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Owais Rafiq</a:t>
            </a:r>
            <a:endParaRPr lang="en-US" sz="240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1880603" y="5012746"/>
            <a:ext cx="24251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</a:t>
            </a:r>
            <a:endParaRPr sz="1800" i="1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CEEFC1D-DA8F-4EB9-8898-0D70DC4B52BB}"/>
              </a:ext>
            </a:extLst>
          </p:cNvPr>
          <p:cNvSpPr/>
          <p:nvPr/>
        </p:nvSpPr>
        <p:spPr>
          <a:xfrm>
            <a:off x="430685" y="4369116"/>
            <a:ext cx="1307947" cy="1180871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29071"/>
            </a:stretch>
          </a:blipFill>
          <a:ln w="28575">
            <a:solidFill>
              <a:srgbClr val="F5A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54DB4-83EF-4981-A319-06E00DDECF0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0805"/>
                    </a14:imgEffect>
                    <a14:imgEffect>
                      <a14:saturation sat="38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349450" y="1460451"/>
            <a:ext cx="4411865" cy="3829294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softEdge rad="25400"/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2FA20A-B2C5-EAD8-5C7C-DA6AECD115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dirty="0"/>
              <a:t>BY SYEDA SARA ALI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5F7F6F-42DC-B87D-BCE1-DFD46AB78E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9450" y="1460451"/>
            <a:ext cx="4411865" cy="382929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03;p17" descr="image.png">
            <a:extLst>
              <a:ext uri="{FF2B5EF4-FFF2-40B4-BE49-F238E27FC236}">
                <a16:creationId xmlns:a16="http://schemas.microsoft.com/office/drawing/2014/main" id="{1DD4A8CB-3809-9C1C-B3F6-DAD8CACFE7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8744" y="61817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029325"/>
            <a:ext cx="110299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81025" y="6248400"/>
            <a:ext cx="262011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dirty="0">
                <a:solidFill>
                  <a:srgbClr val="5E6E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10598794" y="6215062"/>
            <a:ext cx="101218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50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581024" y="485775"/>
            <a:ext cx="360123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rgbClr val="111625"/>
                </a:solidFill>
                <a:latin typeface="Times"/>
                <a:ea typeface="Times"/>
                <a:cs typeface="Times"/>
                <a:sym typeface="Times"/>
              </a:rPr>
              <a:t>Session </a:t>
            </a:r>
            <a:r>
              <a:rPr lang="en-US" sz="3800" b="1" i="1" u="none" strike="noStrike" cap="none" dirty="0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3800" b="1" dirty="0"/>
          </a:p>
        </p:txBody>
      </p:sp>
      <p:sp>
        <p:nvSpPr>
          <p:cNvPr id="133" name="Google Shape;133;p14"/>
          <p:cNvSpPr/>
          <p:nvPr/>
        </p:nvSpPr>
        <p:spPr>
          <a:xfrm>
            <a:off x="2214562" y="1083536"/>
            <a:ext cx="1571825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A8E7B-B7F8-C4A3-F6CC-76759A507B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pic>
        <p:nvPicPr>
          <p:cNvPr id="6" name="Google Shape;99;p14" descr="image.png">
            <a:extLst>
              <a:ext uri="{FF2B5EF4-FFF2-40B4-BE49-F238E27FC236}">
                <a16:creationId xmlns:a16="http://schemas.microsoft.com/office/drawing/2014/main" id="{FC4A0F53-5264-C25D-7F7A-C4FB9ACD85A2}"/>
              </a:ext>
            </a:extLst>
          </p:cNvPr>
          <p:cNvPicPr preferRelativeResize="0"/>
          <p:nvPr/>
        </p:nvPicPr>
        <p:blipFill rotWithShape="1">
          <a:blip r:embed="rId6">
            <a:alphaModFix/>
            <a:lum bright="70000" contrast="-70000"/>
          </a:blip>
          <a:srcRect/>
          <a:stretch/>
        </p:blipFill>
        <p:spPr>
          <a:xfrm>
            <a:off x="665387" y="2305570"/>
            <a:ext cx="5229225" cy="2416654"/>
          </a:xfrm>
          <a:prstGeom prst="rect">
            <a:avLst/>
          </a:prstGeom>
          <a:noFill/>
          <a:ln>
            <a:solidFill>
              <a:srgbClr val="F6AC31"/>
            </a:solidFill>
          </a:ln>
        </p:spPr>
      </p:pic>
      <p:pic>
        <p:nvPicPr>
          <p:cNvPr id="10" name="Google Shape;99;p14" descr="image.png">
            <a:extLst>
              <a:ext uri="{FF2B5EF4-FFF2-40B4-BE49-F238E27FC236}">
                <a16:creationId xmlns:a16="http://schemas.microsoft.com/office/drawing/2014/main" id="{D472B299-2AEE-A3D0-217C-8D4ACDC581F1}"/>
              </a:ext>
            </a:extLst>
          </p:cNvPr>
          <p:cNvPicPr preferRelativeResize="0"/>
          <p:nvPr/>
        </p:nvPicPr>
        <p:blipFill rotWithShape="1">
          <a:blip r:embed="rId6">
            <a:alphaModFix/>
            <a:lum bright="70000" contrast="-70000"/>
          </a:blip>
          <a:srcRect/>
          <a:stretch/>
        </p:blipFill>
        <p:spPr>
          <a:xfrm>
            <a:off x="6297390" y="2305570"/>
            <a:ext cx="5229225" cy="2416654"/>
          </a:xfrm>
          <a:prstGeom prst="rect">
            <a:avLst/>
          </a:prstGeom>
          <a:noFill/>
          <a:ln>
            <a:solidFill>
              <a:srgbClr val="F6AC3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E87629-CE39-2CA3-4D3C-05F1A749BD6C}"/>
              </a:ext>
            </a:extLst>
          </p:cNvPr>
          <p:cNvSpPr txBox="1"/>
          <p:nvPr/>
        </p:nvSpPr>
        <p:spPr>
          <a:xfrm>
            <a:off x="665385" y="231194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01 / Prompt Engineering Core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A7C6C9-9231-335D-ED42-027688EC2B91}"/>
              </a:ext>
            </a:extLst>
          </p:cNvPr>
          <p:cNvSpPr txBox="1"/>
          <p:nvPr/>
        </p:nvSpPr>
        <p:spPr>
          <a:xfrm>
            <a:off x="6297390" y="2305570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02 / Advanced Prompts &amp; Agents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1C6F8F-D16C-6BD9-2A20-CEB7A21C4681}"/>
              </a:ext>
            </a:extLst>
          </p:cNvPr>
          <p:cNvSpPr txBox="1"/>
          <p:nvPr/>
        </p:nvSpPr>
        <p:spPr>
          <a:xfrm>
            <a:off x="694165" y="2936740"/>
            <a:ext cx="4612621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8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Anatomy of prompts and context engineering principles.</a:t>
            </a:r>
          </a:p>
          <a:p>
            <a:pPr marL="285750" indent="-285750">
              <a:lnSpc>
                <a:spcPct val="149955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The Golden Formula: Roles, Tasks, Constraints &amp; Outputs.</a:t>
            </a:r>
            <a:endParaRPr lang="en-GB" sz="18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3AE81E-4720-FD18-3FE3-FE8C122545BE}"/>
              </a:ext>
            </a:extLst>
          </p:cNvPr>
          <p:cNvSpPr txBox="1"/>
          <p:nvPr/>
        </p:nvSpPr>
        <p:spPr>
          <a:xfrm>
            <a:off x="6297390" y="2926411"/>
            <a:ext cx="495299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8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Few-shot pattern matching and Chain of Thought loops.</a:t>
            </a:r>
          </a:p>
          <a:p>
            <a:pPr marL="285750" indent="-285750">
              <a:lnSpc>
                <a:spcPct val="149955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Designing operational Agent systems, loops &amp; Vibe Coding.</a:t>
            </a:r>
            <a:endParaRPr lang="en-GB" sz="18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03;p17" descr="image.png">
            <a:extLst>
              <a:ext uri="{FF2B5EF4-FFF2-40B4-BE49-F238E27FC236}">
                <a16:creationId xmlns:a16="http://schemas.microsoft.com/office/drawing/2014/main" id="{9AB7190B-0FF1-320A-0724-774F2173AE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7918" y="2050444"/>
            <a:ext cx="4713514" cy="2223651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723900" y="6210300"/>
            <a:ext cx="231159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 SEASON • </a:t>
            </a:r>
            <a:r>
              <a:rPr lang="en-US" sz="1050" dirty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PROMPTING</a:t>
            </a:r>
            <a:endParaRPr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627560" y="1619557"/>
            <a:ext cx="617474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System Engineering Action</a:t>
            </a:r>
            <a:endParaRPr lang="en-US" sz="28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703580" y="2259994"/>
            <a:ext cx="51816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2000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The deliberate, methodical practice of structuring language parameters to guide LLMs toward executing highly predictable, deterministic task responses without structural mutations.</a:t>
            </a:r>
            <a:endParaRPr lang="en-GB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7581900" y="2300494"/>
            <a:ext cx="385910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9958"/>
              </a:lnSpc>
            </a:pPr>
            <a:r>
              <a:rPr lang="en-GB" sz="2000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"</a:t>
            </a:r>
            <a:r>
              <a:rPr lang="en-GB" sz="2000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Prompt quality determines context quality, context quality drives reasoning capabilities, and reasoning determines final output success</a:t>
            </a:r>
            <a:r>
              <a:rPr lang="en-GB" sz="2000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"</a:t>
            </a:r>
            <a:endParaRPr lang="en-GB" sz="20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723900" y="533400"/>
            <a:ext cx="6858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rgbClr val="0F172A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WHAT IS </a:t>
            </a:r>
            <a:r>
              <a:rPr lang="en-US" sz="3800" b="1" i="1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Times"/>
                <a:cs typeface="Times" panose="02020603050405020304" pitchFamily="18" charset="0"/>
                <a:sym typeface="Times"/>
              </a:rPr>
              <a:t>Prompt Engineering</a:t>
            </a:r>
            <a:r>
              <a:rPr lang="en-US" sz="3800" b="1" i="1" u="none" strike="noStrike" cap="none" dirty="0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?</a:t>
            </a:r>
            <a:endParaRPr sz="3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3035498" y="1150471"/>
            <a:ext cx="4122420" cy="483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C1D0E5-EA24-7495-1967-BFDD3C053E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0764C-EA2A-0BA5-176F-332172ACF283}"/>
              </a:ext>
            </a:extLst>
          </p:cNvPr>
          <p:cNvSpPr txBox="1"/>
          <p:nvPr/>
        </p:nvSpPr>
        <p:spPr>
          <a:xfrm>
            <a:off x="537129" y="3639911"/>
            <a:ext cx="40348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Logical Flow Loop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EDCD4-A3A6-5864-BBD6-6291973E940A}"/>
              </a:ext>
            </a:extLst>
          </p:cNvPr>
          <p:cNvSpPr txBox="1"/>
          <p:nvPr/>
        </p:nvSpPr>
        <p:spPr>
          <a:xfrm>
            <a:off x="703580" y="4311942"/>
            <a:ext cx="6098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AI does not read human intent. It models token probability vectors. Prompt Engineering optimizes those context vectors to systematically reduce system entropy and logic drift.</a:t>
            </a:r>
            <a:endParaRPr lang="en-GB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03;p17" descr="image.png">
            <a:extLst>
              <a:ext uri="{FF2B5EF4-FFF2-40B4-BE49-F238E27FC236}">
                <a16:creationId xmlns:a16="http://schemas.microsoft.com/office/drawing/2014/main" id="{120FCCE0-81D6-C442-4F14-7C3C2B9C9C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723900" y="6210300"/>
            <a:ext cx="305960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 SEASON • HOW TO WRITE GOOD PROMPTS</a:t>
            </a:r>
            <a:endParaRPr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723899" y="533400"/>
            <a:ext cx="658639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Anatomy of a </a:t>
            </a:r>
            <a:r>
              <a:rPr lang="en-GB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Good Prompt</a:t>
            </a:r>
            <a:endParaRPr lang="en-GB" sz="3800" i="1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3651793" y="1118176"/>
            <a:ext cx="2693344" cy="5488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B1FB02-C4AB-3BFE-56C4-FDA4ECC0A3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graphicFrame>
        <p:nvGraphicFramePr>
          <p:cNvPr id="7" name="Google Shape;153;p17">
            <a:extLst>
              <a:ext uri="{FF2B5EF4-FFF2-40B4-BE49-F238E27FC236}">
                <a16:creationId xmlns:a16="http://schemas.microsoft.com/office/drawing/2014/main" id="{F27A98B5-7BDC-7BD4-E4C8-A4BB2D40B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3901065"/>
              </p:ext>
            </p:extLst>
          </p:nvPr>
        </p:nvGraphicFramePr>
        <p:xfrm>
          <a:off x="676275" y="2300287"/>
          <a:ext cx="10839475" cy="3123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Space Grotesk"/>
                        </a:rPr>
                        <a:t>Core Component</a:t>
                      </a:r>
                      <a:endParaRPr sz="1800" i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  <a:solidFill>
                      <a:srgbClr val="EED8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Space Grotesk"/>
                        </a:rPr>
                        <a:t>System Purpose</a:t>
                      </a:r>
                      <a:endParaRPr sz="1800" i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  <a:solidFill>
                      <a:srgbClr val="EED8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Space Grotesk"/>
                        </a:rPr>
                        <a:t>Implementation Action</a:t>
                      </a:r>
                      <a:endParaRPr sz="1800" i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  <a:solidFill>
                      <a:srgbClr val="EED8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Role Assignment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Initial Vector Anchor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Assign specialized personas (e.g., "Senior QA Architect").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Clear Task Instruction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Execution Target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Define explicit verbs and metrics describing the desired action.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Deep Context Data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Scope Limitation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Supply explicit codebase targets, API declarations, and inputs.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Explicit Constraints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Safety Boundaries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Declare explicit rules (e.g., "Exclude outdated frameworks").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Output Layout Rules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Downstream Parsing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 dirty="0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  <a:sym typeface="Inter"/>
                        </a:rPr>
                        <a:t>Enforce predictable structures such as strict JSON models or tables.</a:t>
                      </a:r>
                      <a:endParaRPr sz="1800" i="1" dirty="0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ibl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17" descr="image.png">
            <a:extLst>
              <a:ext uri="{FF2B5EF4-FFF2-40B4-BE49-F238E27FC236}">
                <a16:creationId xmlns:a16="http://schemas.microsoft.com/office/drawing/2014/main" id="{456EA7AA-7E1F-531B-4DA7-4032E4DAA8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6200"/>
            <a:ext cx="12192000" cy="69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1583607"/>
            <a:ext cx="5229225" cy="2582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7443" y="1583606"/>
            <a:ext cx="5229225" cy="273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723900" y="6210300"/>
            <a:ext cx="224983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 SEASON • PROMPTING MATTERS</a:t>
            </a:r>
            <a:endParaRPr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10553253" y="6186487"/>
            <a:ext cx="914846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" panose="02020603050405020304" pitchFamily="18" charset="0"/>
                <a:ea typeface="Times New Roman"/>
                <a:cs typeface="Times" panose="02020603050405020304" pitchFamily="18" charset="0"/>
                <a:sym typeface="Times New Roman"/>
              </a:rPr>
              <a:t>SEASON</a:t>
            </a:r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600041" y="1599342"/>
            <a:ext cx="45040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lvl="0"/>
            <a:r>
              <a:rPr lang="en-US" sz="3200" b="1" dirty="0">
                <a:solidFill>
                  <a:schemeClr val="tx1"/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The Weak baseline</a:t>
            </a:r>
            <a:endParaRPr lang="en-US" sz="32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981075" y="2306522"/>
            <a:ext cx="471487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US" i="1" dirty="0">
                <a:solidFill>
                  <a:srgbClr val="EF4444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"Write a responsive e-commerce web application page.“</a:t>
            </a:r>
          </a:p>
          <a:p>
            <a:pPr>
              <a:lnSpc>
                <a:spcPct val="149955"/>
              </a:lnSpc>
            </a:pPr>
            <a:r>
              <a:rPr lang="en-US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Generates generic layout patterns, contains redundant boilerplate comments, uses random CSS architectures, and lacks cohesive UI patterns.</a:t>
            </a:r>
            <a:endParaRPr lang="en-US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6496050" y="1711718"/>
            <a:ext cx="49506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lvl="0"/>
            <a:r>
              <a:rPr lang="en-US" sz="2400" b="1" dirty="0">
                <a:solidFill>
                  <a:schemeClr val="tx1"/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Optimized System Prompt</a:t>
            </a:r>
            <a:endParaRPr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6762750" y="2311793"/>
            <a:ext cx="444817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GB" i="1" dirty="0">
                <a:solidFill>
                  <a:srgbClr val="14B8A6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"Act as a React UI engineer. Write a responsive e-commerce landing page using Tailwind CSS. Output only clean, modular code components.“</a:t>
            </a:r>
          </a:p>
          <a:p>
            <a:pPr>
              <a:lnSpc>
                <a:spcPct val="149955"/>
              </a:lnSpc>
            </a:pPr>
            <a:r>
              <a:rPr lang="en-GB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Creates immediate, usable UI, utilizes production-ready Tailwind grids, excludes conversational filler, and operates directly in context.</a:t>
            </a:r>
            <a:endParaRPr lang="en-GB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30" name="Google Shape;23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96050" y="2494954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96050" y="3079551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96050" y="3664148"/>
            <a:ext cx="103733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/>
        </p:nvSpPr>
        <p:spPr>
          <a:xfrm>
            <a:off x="723899" y="533400"/>
            <a:ext cx="709924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The Bad </a:t>
            </a:r>
            <a:r>
              <a:rPr lang="en-GB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vs. </a:t>
            </a:r>
            <a:r>
              <a:rPr lang="en-GB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Good Paradigm</a:t>
            </a:r>
            <a:endParaRPr lang="en-GB" sz="3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34" name="Google Shape;234;p17"/>
          <p:cNvSpPr/>
          <p:nvPr/>
        </p:nvSpPr>
        <p:spPr>
          <a:xfrm flipV="1">
            <a:off x="2579914" y="1049449"/>
            <a:ext cx="544286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E38704-DFB6-C29D-FE40-D2F50162BF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83B8E-8277-EA75-BC7E-39624BC63F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7056" y="4396815"/>
            <a:ext cx="3697888" cy="1517082"/>
          </a:xfrm>
          <a:prstGeom prst="rect">
            <a:avLst/>
          </a:prstGeom>
          <a:effectLst>
            <a:glow rad="63500">
              <a:srgbClr val="F6AC31">
                <a:alpha val="40000"/>
              </a:srgbClr>
            </a:glow>
            <a:outerShdw blurRad="76200" dir="13500000" sy="23000" kx="1200000" algn="br" rotWithShape="0">
              <a:prstClr val="black">
                <a:alpha val="20000"/>
              </a:prstClr>
            </a:outerShdw>
            <a:softEdge rad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03;p17" descr="image.png">
            <a:extLst>
              <a:ext uri="{FF2B5EF4-FFF2-40B4-BE49-F238E27FC236}">
                <a16:creationId xmlns:a16="http://schemas.microsoft.com/office/drawing/2014/main" id="{4BF9E899-00E5-F55F-3213-0C4CEE5303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62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 txBox="1"/>
          <p:nvPr/>
        </p:nvSpPr>
        <p:spPr>
          <a:xfrm>
            <a:off x="723900" y="6210300"/>
            <a:ext cx="236815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PROMPTING TECHS</a:t>
            </a:r>
            <a:endParaRPr dirty="0"/>
          </a:p>
        </p:txBody>
      </p:sp>
      <p:sp>
        <p:nvSpPr>
          <p:cNvPr id="250" name="Google Shape;250;p18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723900" y="533400"/>
            <a:ext cx="602982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Core </a:t>
            </a:r>
            <a:r>
              <a:rPr lang="en-US" sz="3800" b="1" i="1" u="none" strike="noStrike" cap="none" dirty="0">
                <a:solidFill>
                  <a:srgbClr val="F6AC31"/>
                </a:solidFill>
                <a:latin typeface="Times"/>
                <a:ea typeface="Times"/>
                <a:cs typeface="Times"/>
                <a:sym typeface="Times"/>
              </a:rPr>
              <a:t>Prompting</a:t>
            </a:r>
            <a:r>
              <a:rPr lang="en-US" sz="3800" b="1" i="0" u="none" strike="noStrike" cap="none" dirty="0">
                <a:solidFill>
                  <a:srgbClr val="0F172A"/>
                </a:solidFill>
                <a:latin typeface="Times"/>
                <a:ea typeface="Times"/>
                <a:cs typeface="Times"/>
                <a:sym typeface="Times"/>
              </a:rPr>
              <a:t> Techniques</a:t>
            </a:r>
            <a:endParaRPr sz="3800" b="1" dirty="0"/>
          </a:p>
        </p:txBody>
      </p:sp>
      <p:sp>
        <p:nvSpPr>
          <p:cNvPr id="273" name="Google Shape;273;p18"/>
          <p:cNvSpPr/>
          <p:nvPr/>
        </p:nvSpPr>
        <p:spPr>
          <a:xfrm>
            <a:off x="1828799" y="1050497"/>
            <a:ext cx="2171701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53A1FA-EE64-08E2-9E1B-D7F99588BB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graphicFrame>
        <p:nvGraphicFramePr>
          <p:cNvPr id="7" name="Google Shape;200;p19">
            <a:extLst>
              <a:ext uri="{FF2B5EF4-FFF2-40B4-BE49-F238E27FC236}">
                <a16:creationId xmlns:a16="http://schemas.microsoft.com/office/drawing/2014/main" id="{3EDCF798-E224-2ED6-6138-ADF6D1FF2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5812943"/>
              </p:ext>
            </p:extLst>
          </p:nvPr>
        </p:nvGraphicFramePr>
        <p:xfrm>
          <a:off x="676262" y="1914525"/>
          <a:ext cx="10839475" cy="3028950"/>
        </p:xfrm>
        <a:graphic>
          <a:graphicData uri="http://schemas.openxmlformats.org/drawingml/2006/table">
            <a:tbl>
              <a:tblPr firstRow="1" bandRow="1">
                <a:noFill/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tblPr>
              <a:tblGrid>
                <a:gridCol w="226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Space Grotesk"/>
                          <a:cs typeface="Times" panose="02020603050405020304" pitchFamily="18" charset="0"/>
                          <a:sym typeface="Space Grotesk"/>
                        </a:rPr>
                        <a:t>Technique</a:t>
                      </a:r>
                      <a:endParaRPr sz="1800" i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Space Grotesk"/>
                          <a:cs typeface="Times" panose="02020603050405020304" pitchFamily="18" charset="0"/>
                          <a:sym typeface="Space Grotesk"/>
                        </a:rPr>
                        <a:t>Target Use Case</a:t>
                      </a:r>
                      <a:endParaRPr sz="1800" i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Space Grotesk"/>
                          <a:cs typeface="Times" panose="02020603050405020304" pitchFamily="18" charset="0"/>
                          <a:sym typeface="Space Grotesk"/>
                        </a:rPr>
                        <a:t>Operational Paradigm</a:t>
                      </a:r>
                      <a:endParaRPr sz="1800" i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Zero-Shot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Unseen, basic queries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Direct tasks instructions with zero context templates.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Few-Shot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Structured output alignment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Provide sample pairs of input-output models.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Chain of Thought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Deep math &amp; architecture logic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Require step-by-step trace generation before response.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Role Prompting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Targeted domain expertise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Precondition system behaviors to expert frames.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1" u="none" strike="noStrike" cap="none" dirty="0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System Instructions</a:t>
                      </a:r>
                      <a:endParaRPr sz="1800" i="1" dirty="0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Long-term guardrail control</a:t>
                      </a:r>
                      <a:endParaRPr sz="1800" i="1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1" u="none" strike="noStrike" cap="none" dirty="0">
                          <a:solidFill>
                            <a:srgbClr val="5E6E82"/>
                          </a:solidFill>
                          <a:latin typeface="Times" panose="02020603050405020304" pitchFamily="18" charset="0"/>
                          <a:ea typeface="Inter"/>
                          <a:cs typeface="Times" panose="02020603050405020304" pitchFamily="18" charset="0"/>
                          <a:sym typeface="Inter"/>
                        </a:rPr>
                        <a:t>Inject immutable boundaries and interface logic.</a:t>
                      </a:r>
                      <a:endParaRPr sz="1800" i="1" dirty="0">
                        <a:solidFill>
                          <a:srgbClr val="5E6E82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6AC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203;p17" descr="image.png">
            <a:extLst>
              <a:ext uri="{FF2B5EF4-FFF2-40B4-BE49-F238E27FC236}">
                <a16:creationId xmlns:a16="http://schemas.microsoft.com/office/drawing/2014/main" id="{79AD63C3-A8EE-4327-95E2-E8083D1E47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6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723900" y="6210300"/>
            <a:ext cx="25745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SHOTS </a:t>
            </a:r>
            <a:endParaRPr dirty="0"/>
          </a:p>
        </p:txBody>
      </p:sp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71263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Zero-Shot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vs. </a:t>
            </a:r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Few-Shot</a:t>
            </a:r>
            <a:endParaRPr lang="en-US" sz="3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7E73F9-B757-453C-CE1A-9FC8D42EAE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dirty="0"/>
              <a:t>BY SYEDA SARA ALI</a:t>
            </a: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65174462-14AF-796F-4016-5774E5D25D43}"/>
              </a:ext>
            </a:extLst>
          </p:cNvPr>
          <p:cNvSpPr/>
          <p:nvPr/>
        </p:nvSpPr>
        <p:spPr>
          <a:xfrm flipV="1">
            <a:off x="2852057" y="1035353"/>
            <a:ext cx="544286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6" name="Google Shape;226;p20" descr="image.png">
            <a:extLst>
              <a:ext uri="{FF2B5EF4-FFF2-40B4-BE49-F238E27FC236}">
                <a16:creationId xmlns:a16="http://schemas.microsoft.com/office/drawing/2014/main" id="{D1823C21-D72F-A933-1294-700320AA6A4B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prstClr val="black"/>
              <a:srgbClr val="F6AC31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23899" y="2212975"/>
            <a:ext cx="5229225" cy="2476500"/>
          </a:xfrm>
          <a:prstGeom prst="rect">
            <a:avLst/>
          </a:prstGeom>
          <a:noFill/>
          <a:ln>
            <a:solidFill>
              <a:srgbClr val="F6AC31"/>
            </a:solidFill>
          </a:ln>
        </p:spPr>
      </p:pic>
      <p:pic>
        <p:nvPicPr>
          <p:cNvPr id="8" name="Google Shape;227;p20" descr="image.png">
            <a:extLst>
              <a:ext uri="{FF2B5EF4-FFF2-40B4-BE49-F238E27FC236}">
                <a16:creationId xmlns:a16="http://schemas.microsoft.com/office/drawing/2014/main" id="{8B8AA252-EDED-1D57-2282-728089E41DBC}"/>
              </a:ext>
            </a:extLst>
          </p:cNvPr>
          <p:cNvPicPr preferRelativeResize="0"/>
          <p:nvPr/>
        </p:nvPicPr>
        <p:blipFill rotWithShape="1">
          <a:blip r:embed="rId7">
            <a:alphaModFix/>
            <a:duotone>
              <a:prstClr val="black"/>
              <a:srgbClr val="F6AC31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6360928" y="2190750"/>
            <a:ext cx="5229225" cy="2476500"/>
          </a:xfrm>
          <a:prstGeom prst="rect">
            <a:avLst/>
          </a:prstGeom>
          <a:noFill/>
          <a:ln>
            <a:solidFill>
              <a:srgbClr val="F6AC3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D6AFC0-1BCA-40EC-A894-947BCE4B2800}"/>
              </a:ext>
            </a:extLst>
          </p:cNvPr>
          <p:cNvSpPr txBox="1"/>
          <p:nvPr/>
        </p:nvSpPr>
        <p:spPr>
          <a:xfrm>
            <a:off x="866775" y="2199368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2"/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Zero-Shot Operations</a:t>
            </a:r>
            <a:endParaRPr lang="en-US" sz="2800" b="1" dirty="0">
              <a:solidFill>
                <a:schemeClr val="tx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CB233D-FAD6-5409-7DF4-5AD2D20C50C1}"/>
              </a:ext>
            </a:extLst>
          </p:cNvPr>
          <p:cNvSpPr txBox="1"/>
          <p:nvPr/>
        </p:nvSpPr>
        <p:spPr>
          <a:xfrm>
            <a:off x="6503804" y="2207986"/>
            <a:ext cx="62620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2"/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Few-Shot Scaffolding</a:t>
            </a:r>
            <a:endParaRPr lang="en-US" sz="2800" b="1" dirty="0">
              <a:solidFill>
                <a:schemeClr val="tx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0EF7F3-1BDF-D021-1C98-16989D473960}"/>
              </a:ext>
            </a:extLst>
          </p:cNvPr>
          <p:cNvSpPr txBox="1"/>
          <p:nvPr/>
        </p:nvSpPr>
        <p:spPr>
          <a:xfrm>
            <a:off x="866775" y="2860028"/>
            <a:ext cx="5229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EED89A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Direct tasks without prior data scaffolding. Rely on natural base probability paths inside LLMs.</a:t>
            </a:r>
            <a:endParaRPr lang="en-GB" sz="1800" dirty="0">
              <a:solidFill>
                <a:srgbClr val="EED89A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6F292-016F-208F-356C-6BC6E6D972B3}"/>
              </a:ext>
            </a:extLst>
          </p:cNvPr>
          <p:cNvSpPr txBox="1"/>
          <p:nvPr/>
        </p:nvSpPr>
        <p:spPr>
          <a:xfrm>
            <a:off x="6503804" y="2876840"/>
            <a:ext cx="5229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EED89A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Introduce historical mock pairs. Forces strict replication of structures, semantics, or syntactic rules.</a:t>
            </a:r>
            <a:endParaRPr lang="en-GB" sz="1800" dirty="0">
              <a:solidFill>
                <a:srgbClr val="EED89A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203;p17" descr="image.png">
            <a:extLst>
              <a:ext uri="{FF2B5EF4-FFF2-40B4-BE49-F238E27FC236}">
                <a16:creationId xmlns:a16="http://schemas.microsoft.com/office/drawing/2014/main" id="{6A1E4ABE-6441-FE94-A00B-1362E6CA24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723900" y="6210300"/>
            <a:ext cx="25745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</a:t>
            </a:r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FOR PROMPTING</a:t>
            </a:r>
            <a:endParaRPr dirty="0"/>
          </a:p>
        </p:txBody>
      </p:sp>
      <p:sp>
        <p:nvSpPr>
          <p:cNvPr id="282" name="Google Shape;282;p19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23899" y="533400"/>
            <a:ext cx="71263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Chain of Thought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Prompting</a:t>
            </a:r>
            <a:endParaRPr lang="en-US" sz="3800" i="1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4334637" y="1089600"/>
            <a:ext cx="2360077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99D140-661C-0427-8D22-012A8452D0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sp>
        <p:nvSpPr>
          <p:cNvPr id="4" name="Google Shape;243;p21">
            <a:extLst>
              <a:ext uri="{FF2B5EF4-FFF2-40B4-BE49-F238E27FC236}">
                <a16:creationId xmlns:a16="http://schemas.microsoft.com/office/drawing/2014/main" id="{CE26FFD1-AD4C-86BD-B101-E276F82F5F3B}"/>
              </a:ext>
            </a:extLst>
          </p:cNvPr>
          <p:cNvSpPr/>
          <p:nvPr/>
        </p:nvSpPr>
        <p:spPr>
          <a:xfrm>
            <a:off x="1782886" y="37290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70A13"/>
          </a:solidFill>
          <a:ln w="38100" cap="flat" cmpd="sng">
            <a:solidFill>
              <a:srgbClr val="F6AC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6AC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44;p21">
            <a:extLst>
              <a:ext uri="{FF2B5EF4-FFF2-40B4-BE49-F238E27FC236}">
                <a16:creationId xmlns:a16="http://schemas.microsoft.com/office/drawing/2014/main" id="{C05BEDE0-0C2C-1646-4807-106E16A35B90}"/>
              </a:ext>
            </a:extLst>
          </p:cNvPr>
          <p:cNvSpPr/>
          <p:nvPr/>
        </p:nvSpPr>
        <p:spPr>
          <a:xfrm>
            <a:off x="4601095" y="37290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70A13"/>
          </a:solidFill>
          <a:ln w="38100" cap="flat" cmpd="sng">
            <a:solidFill>
              <a:srgbClr val="F6AC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45;p21">
            <a:extLst>
              <a:ext uri="{FF2B5EF4-FFF2-40B4-BE49-F238E27FC236}">
                <a16:creationId xmlns:a16="http://schemas.microsoft.com/office/drawing/2014/main" id="{5223C72A-5E1F-7833-E85E-4FFCE284C55B}"/>
              </a:ext>
            </a:extLst>
          </p:cNvPr>
          <p:cNvSpPr/>
          <p:nvPr/>
        </p:nvSpPr>
        <p:spPr>
          <a:xfrm>
            <a:off x="7419305" y="37290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70A13"/>
          </a:solidFill>
          <a:ln w="38100" cap="flat" cmpd="sng">
            <a:solidFill>
              <a:srgbClr val="F6AC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46;p21">
            <a:extLst>
              <a:ext uri="{FF2B5EF4-FFF2-40B4-BE49-F238E27FC236}">
                <a16:creationId xmlns:a16="http://schemas.microsoft.com/office/drawing/2014/main" id="{C94B3ED6-8C6F-DCCA-F0E0-4313E12CA201}"/>
              </a:ext>
            </a:extLst>
          </p:cNvPr>
          <p:cNvSpPr/>
          <p:nvPr/>
        </p:nvSpPr>
        <p:spPr>
          <a:xfrm>
            <a:off x="10237514" y="37290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70A13"/>
          </a:solidFill>
          <a:ln w="38100" cap="flat" cmpd="sng">
            <a:solidFill>
              <a:srgbClr val="F6AC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49;p21">
            <a:extLst>
              <a:ext uri="{FF2B5EF4-FFF2-40B4-BE49-F238E27FC236}">
                <a16:creationId xmlns:a16="http://schemas.microsoft.com/office/drawing/2014/main" id="{CEE5CF42-4741-397E-B3EF-ACE2B6D32384}"/>
              </a:ext>
            </a:extLst>
          </p:cNvPr>
          <p:cNvSpPr/>
          <p:nvPr/>
        </p:nvSpPr>
        <p:spPr>
          <a:xfrm>
            <a:off x="676275" y="3795712"/>
            <a:ext cx="108394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50;p21">
            <a:extLst>
              <a:ext uri="{FF2B5EF4-FFF2-40B4-BE49-F238E27FC236}">
                <a16:creationId xmlns:a16="http://schemas.microsoft.com/office/drawing/2014/main" id="{9BFE1BE5-3BD0-455E-1132-AE9E4D6A8814}"/>
              </a:ext>
            </a:extLst>
          </p:cNvPr>
          <p:cNvSpPr txBox="1"/>
          <p:nvPr/>
        </p:nvSpPr>
        <p:spPr>
          <a:xfrm>
            <a:off x="616658" y="4052887"/>
            <a:ext cx="25039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Problem State</a:t>
            </a:r>
            <a:endParaRPr sz="20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" name="Google Shape;251;p21">
            <a:extLst>
              <a:ext uri="{FF2B5EF4-FFF2-40B4-BE49-F238E27FC236}">
                <a16:creationId xmlns:a16="http://schemas.microsoft.com/office/drawing/2014/main" id="{8A26834B-4FD4-56C4-0416-2831BC73349A}"/>
              </a:ext>
            </a:extLst>
          </p:cNvPr>
          <p:cNvSpPr txBox="1"/>
          <p:nvPr/>
        </p:nvSpPr>
        <p:spPr>
          <a:xfrm>
            <a:off x="146814" y="4346932"/>
            <a:ext cx="37287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Complex input data containing conflicting logic loops.</a:t>
            </a:r>
            <a:endParaRPr sz="16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" name="Google Shape;252;p21">
            <a:extLst>
              <a:ext uri="{FF2B5EF4-FFF2-40B4-BE49-F238E27FC236}">
                <a16:creationId xmlns:a16="http://schemas.microsoft.com/office/drawing/2014/main" id="{402F62FB-7C76-6A6A-CEC3-BA5CE5DEC7CA}"/>
              </a:ext>
            </a:extLst>
          </p:cNvPr>
          <p:cNvSpPr txBox="1"/>
          <p:nvPr/>
        </p:nvSpPr>
        <p:spPr>
          <a:xfrm>
            <a:off x="3349142" y="2336105"/>
            <a:ext cx="25039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Step-by-Step Chain</a:t>
            </a:r>
            <a:endParaRPr sz="20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5" name="Google Shape;253;p21">
            <a:extLst>
              <a:ext uri="{FF2B5EF4-FFF2-40B4-BE49-F238E27FC236}">
                <a16:creationId xmlns:a16="http://schemas.microsoft.com/office/drawing/2014/main" id="{CEDDE03F-F8FA-46E6-E47B-578226CEC489}"/>
              </a:ext>
            </a:extLst>
          </p:cNvPr>
          <p:cNvSpPr txBox="1"/>
          <p:nvPr/>
        </p:nvSpPr>
        <p:spPr>
          <a:xfrm>
            <a:off x="3183055" y="2837455"/>
            <a:ext cx="317898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Explicit commands forcing systemic execution logs.</a:t>
            </a:r>
            <a:endParaRPr sz="16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Google Shape;254;p21">
            <a:extLst>
              <a:ext uri="{FF2B5EF4-FFF2-40B4-BE49-F238E27FC236}">
                <a16:creationId xmlns:a16="http://schemas.microsoft.com/office/drawing/2014/main" id="{423A665A-55FA-879A-09B0-09212431B49D}"/>
              </a:ext>
            </a:extLst>
          </p:cNvPr>
          <p:cNvSpPr txBox="1"/>
          <p:nvPr/>
        </p:nvSpPr>
        <p:spPr>
          <a:xfrm>
            <a:off x="6253076" y="4052887"/>
            <a:ext cx="25039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Hidden Reasoning</a:t>
            </a:r>
            <a:endParaRPr sz="20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9" name="Google Shape;255;p21">
            <a:extLst>
              <a:ext uri="{FF2B5EF4-FFF2-40B4-BE49-F238E27FC236}">
                <a16:creationId xmlns:a16="http://schemas.microsoft.com/office/drawing/2014/main" id="{6E547C0A-9BD3-C0A9-2A7C-D981F2FC62CA}"/>
              </a:ext>
            </a:extLst>
          </p:cNvPr>
          <p:cNvSpPr txBox="1"/>
          <p:nvPr/>
        </p:nvSpPr>
        <p:spPr>
          <a:xfrm>
            <a:off x="6050888" y="4356062"/>
            <a:ext cx="29108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Self-verifying logic trace to correct intermediate errors.</a:t>
            </a:r>
            <a:endParaRPr sz="16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1" name="Google Shape;256;p21">
            <a:extLst>
              <a:ext uri="{FF2B5EF4-FFF2-40B4-BE49-F238E27FC236}">
                <a16:creationId xmlns:a16="http://schemas.microsoft.com/office/drawing/2014/main" id="{F0FB8EE2-3DC9-3566-9DC3-65CB8AC40201}"/>
              </a:ext>
            </a:extLst>
          </p:cNvPr>
          <p:cNvSpPr txBox="1"/>
          <p:nvPr/>
        </p:nvSpPr>
        <p:spPr>
          <a:xfrm>
            <a:off x="8939350" y="2337791"/>
            <a:ext cx="25039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Synthesized Output</a:t>
            </a:r>
            <a:endParaRPr sz="20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3" name="Google Shape;257;p21">
            <a:extLst>
              <a:ext uri="{FF2B5EF4-FFF2-40B4-BE49-F238E27FC236}">
                <a16:creationId xmlns:a16="http://schemas.microsoft.com/office/drawing/2014/main" id="{5C9FF6DE-3736-6A4F-BC25-E4A676631D5D}"/>
              </a:ext>
            </a:extLst>
          </p:cNvPr>
          <p:cNvSpPr txBox="1"/>
          <p:nvPr/>
        </p:nvSpPr>
        <p:spPr>
          <a:xfrm>
            <a:off x="8504372" y="2803329"/>
            <a:ext cx="36150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Accurate, validated and deterministic response models.</a:t>
            </a:r>
            <a:endParaRPr sz="16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552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203;p17" descr="image.png">
            <a:extLst>
              <a:ext uri="{FF2B5EF4-FFF2-40B4-BE49-F238E27FC236}">
                <a16:creationId xmlns:a16="http://schemas.microsoft.com/office/drawing/2014/main" id="{9A88FB44-01BB-7647-D08F-B8ACAC6474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 txBox="1"/>
          <p:nvPr/>
        </p:nvSpPr>
        <p:spPr>
          <a:xfrm>
            <a:off x="723900" y="6210300"/>
            <a:ext cx="263872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SYSTEMS PROMPTING</a:t>
            </a:r>
            <a:endParaRPr dirty="0"/>
          </a:p>
        </p:txBody>
      </p:sp>
      <p:sp>
        <p:nvSpPr>
          <p:cNvPr id="318" name="Google Shape;318;p20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723899" y="533400"/>
            <a:ext cx="559525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Role &amp; System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Prompting</a:t>
            </a:r>
            <a:endParaRPr lang="en-US" sz="3800" i="1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0C96B0-CC30-8175-BCD9-43D07F746C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sp>
        <p:nvSpPr>
          <p:cNvPr id="4" name="Google Shape;303;p19">
            <a:extLst>
              <a:ext uri="{FF2B5EF4-FFF2-40B4-BE49-F238E27FC236}">
                <a16:creationId xmlns:a16="http://schemas.microsoft.com/office/drawing/2014/main" id="{BD7C05BF-1B24-769E-F0A3-39774133898D}"/>
              </a:ext>
            </a:extLst>
          </p:cNvPr>
          <p:cNvSpPr/>
          <p:nvPr/>
        </p:nvSpPr>
        <p:spPr>
          <a:xfrm>
            <a:off x="3735923" y="1103478"/>
            <a:ext cx="2360077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65;p22" descr="image.png">
            <a:extLst>
              <a:ext uri="{FF2B5EF4-FFF2-40B4-BE49-F238E27FC236}">
                <a16:creationId xmlns:a16="http://schemas.microsoft.com/office/drawing/2014/main" id="{AC985C9A-565B-3FF8-F180-E0FF6AF2FA2B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CrisscrossEtching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23899" y="2189864"/>
            <a:ext cx="3486150" cy="2669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66;p22" descr="image.png">
            <a:extLst>
              <a:ext uri="{FF2B5EF4-FFF2-40B4-BE49-F238E27FC236}">
                <a16:creationId xmlns:a16="http://schemas.microsoft.com/office/drawing/2014/main" id="{E6444B86-FD0C-8F87-3FC1-A18C5E5EE634}"/>
              </a:ext>
            </a:extLst>
          </p:cNvPr>
          <p:cNvPicPr preferRelativeResize="0"/>
          <p:nvPr/>
        </p:nvPicPr>
        <p:blipFill rotWithShape="1">
          <a:blip r:embed="rId8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CrisscrossEtching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400549" y="2189864"/>
            <a:ext cx="3486150" cy="2669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67;p22" descr="image.png">
            <a:extLst>
              <a:ext uri="{FF2B5EF4-FFF2-40B4-BE49-F238E27FC236}">
                <a16:creationId xmlns:a16="http://schemas.microsoft.com/office/drawing/2014/main" id="{DD08706C-C459-6EAB-3C97-8F2771760595}"/>
              </a:ext>
            </a:extLst>
          </p:cNvPr>
          <p:cNvPicPr preferRelativeResize="0"/>
          <p:nvPr/>
        </p:nvPicPr>
        <p:blipFill rotWithShape="1">
          <a:blip r:embed="rId10">
            <a:alphaModFix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risscrossEtching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077199" y="2189864"/>
            <a:ext cx="3486150" cy="2669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71;p22">
            <a:extLst>
              <a:ext uri="{FF2B5EF4-FFF2-40B4-BE49-F238E27FC236}">
                <a16:creationId xmlns:a16="http://schemas.microsoft.com/office/drawing/2014/main" id="{1DB63C46-873C-9EA9-BC04-7D6EFA3D5811}"/>
              </a:ext>
            </a:extLst>
          </p:cNvPr>
          <p:cNvSpPr txBox="1"/>
          <p:nvPr/>
        </p:nvSpPr>
        <p:spPr>
          <a:xfrm>
            <a:off x="971549" y="2951864"/>
            <a:ext cx="31403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Architect Persona</a:t>
            </a:r>
            <a:endParaRPr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Google Shape;272;p22">
            <a:extLst>
              <a:ext uri="{FF2B5EF4-FFF2-40B4-BE49-F238E27FC236}">
                <a16:creationId xmlns:a16="http://schemas.microsoft.com/office/drawing/2014/main" id="{FDB8AD6A-B03C-94AD-2C97-5B1E1B303C92}"/>
              </a:ext>
            </a:extLst>
          </p:cNvPr>
          <p:cNvSpPr txBox="1"/>
          <p:nvPr/>
        </p:nvSpPr>
        <p:spPr>
          <a:xfrm>
            <a:off x="971549" y="3440616"/>
            <a:ext cx="29908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EED89A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Forces system to evaluate architectural trade-offs, tech debt constraints, structural integrity, and deployment paradigms.</a:t>
            </a:r>
            <a:endParaRPr sz="1600" dirty="0">
              <a:solidFill>
                <a:srgbClr val="EED89A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Google Shape;273;p22">
            <a:extLst>
              <a:ext uri="{FF2B5EF4-FFF2-40B4-BE49-F238E27FC236}">
                <a16:creationId xmlns:a16="http://schemas.microsoft.com/office/drawing/2014/main" id="{940D5B6E-FC92-84E7-0EB6-6F238180F4AD}"/>
              </a:ext>
            </a:extLst>
          </p:cNvPr>
          <p:cNvSpPr txBox="1"/>
          <p:nvPr/>
        </p:nvSpPr>
        <p:spPr>
          <a:xfrm>
            <a:off x="4648199" y="2951864"/>
            <a:ext cx="31403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Security Guard</a:t>
            </a:r>
            <a:endParaRPr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Google Shape;274;p22">
            <a:extLst>
              <a:ext uri="{FF2B5EF4-FFF2-40B4-BE49-F238E27FC236}">
                <a16:creationId xmlns:a16="http://schemas.microsoft.com/office/drawing/2014/main" id="{606D088E-12CB-AC96-4746-699E4EA434F1}"/>
              </a:ext>
            </a:extLst>
          </p:cNvPr>
          <p:cNvSpPr txBox="1"/>
          <p:nvPr/>
        </p:nvSpPr>
        <p:spPr>
          <a:xfrm>
            <a:off x="4648199" y="3440616"/>
            <a:ext cx="29908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EED89A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Applies static code analysis paradigms, scans dependencies, structures protection patterns, and enforces secure code paths.</a:t>
            </a:r>
            <a:endParaRPr sz="1600" dirty="0">
              <a:solidFill>
                <a:srgbClr val="EED89A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0" name="Google Shape;275;p22">
            <a:extLst>
              <a:ext uri="{FF2B5EF4-FFF2-40B4-BE49-F238E27FC236}">
                <a16:creationId xmlns:a16="http://schemas.microsoft.com/office/drawing/2014/main" id="{0ABFF511-2284-E58D-EA63-F4C50E5DD250}"/>
              </a:ext>
            </a:extLst>
          </p:cNvPr>
          <p:cNvSpPr txBox="1"/>
          <p:nvPr/>
        </p:nvSpPr>
        <p:spPr>
          <a:xfrm>
            <a:off x="8324849" y="2951864"/>
            <a:ext cx="31403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8FAFC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QA Debugger</a:t>
            </a:r>
            <a:endParaRPr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2" name="Google Shape;276;p22">
            <a:extLst>
              <a:ext uri="{FF2B5EF4-FFF2-40B4-BE49-F238E27FC236}">
                <a16:creationId xmlns:a16="http://schemas.microsoft.com/office/drawing/2014/main" id="{6D7F6D3B-AB42-E222-20B5-779DA7332617}"/>
              </a:ext>
            </a:extLst>
          </p:cNvPr>
          <p:cNvSpPr txBox="1"/>
          <p:nvPr/>
        </p:nvSpPr>
        <p:spPr>
          <a:xfrm>
            <a:off x="8324849" y="3440616"/>
            <a:ext cx="299085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EED89A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Simulates stress boundaries, generates extreme edge cases, structures unit assertions, and verifies asynchronous state behaviors.</a:t>
            </a:r>
            <a:endParaRPr sz="1600" dirty="0">
              <a:solidFill>
                <a:srgbClr val="EED89A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4" name="Google Shape;277;p22" descr="image.png">
            <a:extLst>
              <a:ext uri="{FF2B5EF4-FFF2-40B4-BE49-F238E27FC236}">
                <a16:creationId xmlns:a16="http://schemas.microsoft.com/office/drawing/2014/main" id="{71FC3337-0B72-853D-C26E-6A6A247B55C7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biLevel thresh="75000"/>
          </a:blip>
          <a:srcRect/>
          <a:stretch/>
        </p:blipFill>
        <p:spPr>
          <a:xfrm>
            <a:off x="971549" y="2466089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78;p22" descr="image.png">
            <a:extLst>
              <a:ext uri="{FF2B5EF4-FFF2-40B4-BE49-F238E27FC236}">
                <a16:creationId xmlns:a16="http://schemas.microsoft.com/office/drawing/2014/main" id="{2936F7FD-88FF-70D3-E6EF-381F30E80AB5}"/>
              </a:ext>
            </a:extLst>
          </p:cNvPr>
          <p:cNvPicPr preferRelativeResize="0"/>
          <p:nvPr/>
        </p:nvPicPr>
        <p:blipFill rotWithShape="1">
          <a:blip r:embed="rId13">
            <a:alphaModFix/>
            <a:biLevel thresh="75000"/>
          </a:blip>
          <a:srcRect/>
          <a:stretch/>
        </p:blipFill>
        <p:spPr>
          <a:xfrm>
            <a:off x="4648199" y="2466089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79;p22" descr="image.png">
            <a:extLst>
              <a:ext uri="{FF2B5EF4-FFF2-40B4-BE49-F238E27FC236}">
                <a16:creationId xmlns:a16="http://schemas.microsoft.com/office/drawing/2014/main" id="{6107E023-E8C7-1933-ED81-DE43675ACA51}"/>
              </a:ext>
            </a:extLst>
          </p:cNvPr>
          <p:cNvPicPr preferRelativeResize="0"/>
          <p:nvPr/>
        </p:nvPicPr>
        <p:blipFill rotWithShape="1">
          <a:blip r:embed="rId14">
            <a:alphaModFix/>
            <a:biLevel thresh="75000"/>
          </a:blip>
          <a:srcRect/>
          <a:stretch/>
        </p:blipFill>
        <p:spPr>
          <a:xfrm>
            <a:off x="8324849" y="2466089"/>
            <a:ext cx="381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203;p17" descr="image.png">
            <a:extLst>
              <a:ext uri="{FF2B5EF4-FFF2-40B4-BE49-F238E27FC236}">
                <a16:creationId xmlns:a16="http://schemas.microsoft.com/office/drawing/2014/main" id="{7BA98788-20A2-499B-8E06-FBF1548913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 txBox="1"/>
          <p:nvPr/>
        </p:nvSpPr>
        <p:spPr>
          <a:xfrm>
            <a:off x="723900" y="6186488"/>
            <a:ext cx="329946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PRESERVED PROMPTS</a:t>
            </a:r>
            <a:endParaRPr dirty="0"/>
          </a:p>
        </p:txBody>
      </p:sp>
      <p:sp>
        <p:nvSpPr>
          <p:cNvPr id="318" name="Google Shape;318;p20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723899" y="533400"/>
            <a:ext cx="68852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Context</a:t>
            </a:r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 Engineering Rules</a:t>
            </a:r>
            <a:endParaRPr lang="en-US" sz="3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723899" y="1089625"/>
            <a:ext cx="154577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2FCFC1-733E-EA21-53AF-E54B2DD086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pic>
        <p:nvPicPr>
          <p:cNvPr id="6" name="Google Shape;292;p23" descr="image.png">
            <a:extLst>
              <a:ext uri="{FF2B5EF4-FFF2-40B4-BE49-F238E27FC236}">
                <a16:creationId xmlns:a16="http://schemas.microsoft.com/office/drawing/2014/main" id="{7B8A1DEF-FB4F-5134-F9D5-5E10364DA76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011" t="5771" r="731" b="5902"/>
          <a:stretch>
            <a:fillRect/>
          </a:stretch>
        </p:blipFill>
        <p:spPr>
          <a:xfrm>
            <a:off x="6727372" y="2049235"/>
            <a:ext cx="5067299" cy="2759530"/>
          </a:xfrm>
          <a:prstGeom prst="rect">
            <a:avLst/>
          </a:prstGeom>
          <a:noFill/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sp>
        <p:nvSpPr>
          <p:cNvPr id="9" name="Google Shape;291;p23">
            <a:extLst>
              <a:ext uri="{FF2B5EF4-FFF2-40B4-BE49-F238E27FC236}">
                <a16:creationId xmlns:a16="http://schemas.microsoft.com/office/drawing/2014/main" id="{84124680-FF1B-DEB0-65BA-F0114FC1B17F}"/>
              </a:ext>
            </a:extLst>
          </p:cNvPr>
          <p:cNvSpPr txBox="1"/>
          <p:nvPr/>
        </p:nvSpPr>
        <p:spPr>
          <a:xfrm>
            <a:off x="723899" y="2081491"/>
            <a:ext cx="52292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Context represents the operational boundary of an LLM.</a:t>
            </a:r>
            <a:r>
              <a:rPr lang="en-US" sz="20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Providing raw instructions without local state yields poor, generalized outputs.</a:t>
            </a:r>
            <a:endParaRPr sz="20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Google Shape;293;p23">
            <a:extLst>
              <a:ext uri="{FF2B5EF4-FFF2-40B4-BE49-F238E27FC236}">
                <a16:creationId xmlns:a16="http://schemas.microsoft.com/office/drawing/2014/main" id="{D6B7844A-3186-09E1-02D0-DE7C7F6FAE3C}"/>
              </a:ext>
            </a:extLst>
          </p:cNvPr>
          <p:cNvSpPr txBox="1"/>
          <p:nvPr/>
        </p:nvSpPr>
        <p:spPr>
          <a:xfrm>
            <a:off x="962322" y="3539511"/>
            <a:ext cx="48006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Input related code paths before prompting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Supply complete schema designs for integration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Anchor development rules to precise user constraints.</a:t>
            </a:r>
            <a:endParaRPr lang="en-GB" sz="18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36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03;p17" descr="image.png">
            <a:extLst>
              <a:ext uri="{FF2B5EF4-FFF2-40B4-BE49-F238E27FC236}">
                <a16:creationId xmlns:a16="http://schemas.microsoft.com/office/drawing/2014/main" id="{D11BCCBC-A2CE-B2A5-9D0C-1AAA9DA85D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 txBox="1"/>
          <p:nvPr/>
        </p:nvSpPr>
        <p:spPr>
          <a:xfrm>
            <a:off x="723900" y="6210300"/>
            <a:ext cx="270033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OUTPUTS</a:t>
            </a:r>
            <a:endParaRPr dirty="0"/>
          </a:p>
        </p:txBody>
      </p:sp>
      <p:sp>
        <p:nvSpPr>
          <p:cNvPr id="346" name="Google Shape;346;p21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362" name="Google Shape;362;p21"/>
          <p:cNvSpPr txBox="1"/>
          <p:nvPr/>
        </p:nvSpPr>
        <p:spPr>
          <a:xfrm>
            <a:off x="723900" y="533400"/>
            <a:ext cx="67513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Securing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Structured</a:t>
            </a:r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 Outputs</a:t>
            </a:r>
            <a:endParaRPr lang="en-US" sz="3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412B21-09B9-3090-E817-179E72824C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43BF0-E75D-EC6D-01D7-3DA929F21D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3610" y="1086653"/>
            <a:ext cx="2362200" cy="47625"/>
          </a:xfrm>
          <a:prstGeom prst="rect">
            <a:avLst/>
          </a:prstGeom>
        </p:spPr>
      </p:pic>
      <p:pic>
        <p:nvPicPr>
          <p:cNvPr id="6" name="Google Shape;309;p24" descr="image.png">
            <a:extLst>
              <a:ext uri="{FF2B5EF4-FFF2-40B4-BE49-F238E27FC236}">
                <a16:creationId xmlns:a16="http://schemas.microsoft.com/office/drawing/2014/main" id="{08057A25-DE98-6495-1FAE-CE459CA6A434}"/>
              </a:ext>
            </a:extLst>
          </p:cNvPr>
          <p:cNvPicPr preferRelativeResize="0"/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6275" y="2058205"/>
            <a:ext cx="5229225" cy="30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10;p24" descr="image.png">
            <a:extLst>
              <a:ext uri="{FF2B5EF4-FFF2-40B4-BE49-F238E27FC236}">
                <a16:creationId xmlns:a16="http://schemas.microsoft.com/office/drawing/2014/main" id="{BA3C96C4-57EF-2364-71F6-97EAFCA7E21C}"/>
              </a:ext>
            </a:extLst>
          </p:cNvPr>
          <p:cNvPicPr preferRelativeResize="0"/>
          <p:nvPr/>
        </p:nvPicPr>
        <p:blipFill rotWithShape="1">
          <a:blip r:embed="rId9"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286500" y="2058205"/>
            <a:ext cx="5229225" cy="3066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11;p24" descr="image.png">
            <a:extLst>
              <a:ext uri="{FF2B5EF4-FFF2-40B4-BE49-F238E27FC236}">
                <a16:creationId xmlns:a16="http://schemas.microsoft.com/office/drawing/2014/main" id="{A866FDF7-8215-A636-A04E-CF7BDDAFC3E2}"/>
              </a:ext>
            </a:extLst>
          </p:cNvPr>
          <p:cNvPicPr preferRelativeResize="0"/>
          <p:nvPr/>
        </p:nvPicPr>
        <p:blipFill rotWithShape="1">
          <a:blip r:embed="rId11">
            <a:alphaModFix/>
            <a:lum bright="70000" contrast="-70000"/>
          </a:blip>
          <a:srcRect/>
          <a:stretch/>
        </p:blipFill>
        <p:spPr>
          <a:xfrm>
            <a:off x="6581775" y="4081313"/>
            <a:ext cx="4638675" cy="47639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15;p24">
            <a:extLst>
              <a:ext uri="{FF2B5EF4-FFF2-40B4-BE49-F238E27FC236}">
                <a16:creationId xmlns:a16="http://schemas.microsoft.com/office/drawing/2014/main" id="{FE37D33D-7544-74B4-942A-C10D6F78055E}"/>
              </a:ext>
            </a:extLst>
          </p:cNvPr>
          <p:cNvSpPr txBox="1"/>
          <p:nvPr/>
        </p:nvSpPr>
        <p:spPr>
          <a:xfrm>
            <a:off x="971550" y="2260654"/>
            <a:ext cx="48706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Schema Enforced Targets</a:t>
            </a:r>
            <a:endParaRPr sz="22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Google Shape;316;p24">
            <a:extLst>
              <a:ext uri="{FF2B5EF4-FFF2-40B4-BE49-F238E27FC236}">
                <a16:creationId xmlns:a16="http://schemas.microsoft.com/office/drawing/2014/main" id="{A51B7632-86A3-8A5C-E195-0C8DE62B4738}"/>
              </a:ext>
            </a:extLst>
          </p:cNvPr>
          <p:cNvSpPr txBox="1"/>
          <p:nvPr/>
        </p:nvSpPr>
        <p:spPr>
          <a:xfrm>
            <a:off x="971550" y="2726634"/>
            <a:ext cx="46386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Eliminate conversational noise by forcing LLMs to return strict schemas. Ideal for building system interfaces.</a:t>
            </a:r>
            <a:endParaRPr sz="1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Google Shape;317;p24">
            <a:extLst>
              <a:ext uri="{FF2B5EF4-FFF2-40B4-BE49-F238E27FC236}">
                <a16:creationId xmlns:a16="http://schemas.microsoft.com/office/drawing/2014/main" id="{7594192B-26C1-D1A2-857F-40322DD90D3F}"/>
              </a:ext>
            </a:extLst>
          </p:cNvPr>
          <p:cNvSpPr txBox="1"/>
          <p:nvPr/>
        </p:nvSpPr>
        <p:spPr>
          <a:xfrm>
            <a:off x="6581775" y="2260654"/>
            <a:ext cx="48706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Space Grotesk SemiBold"/>
                <a:cs typeface="Times" panose="02020603050405020304" pitchFamily="18" charset="0"/>
                <a:sym typeface="Space Grotesk SemiBold"/>
              </a:rPr>
              <a:t>Mathematical Parsing</a:t>
            </a:r>
            <a:endParaRPr sz="22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Google Shape;318;p24">
            <a:extLst>
              <a:ext uri="{FF2B5EF4-FFF2-40B4-BE49-F238E27FC236}">
                <a16:creationId xmlns:a16="http://schemas.microsoft.com/office/drawing/2014/main" id="{AD3839BA-D9BA-F27C-64A2-04E8B41BA6F0}"/>
              </a:ext>
            </a:extLst>
          </p:cNvPr>
          <p:cNvSpPr txBox="1"/>
          <p:nvPr/>
        </p:nvSpPr>
        <p:spPr>
          <a:xfrm>
            <a:off x="6581775" y="2721831"/>
            <a:ext cx="442890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Ensure reliable logic loops using MathML parsing parameters to govern computational steps.</a:t>
            </a:r>
            <a:endParaRPr sz="1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0" name="Google Shape;319;p24" descr="image.png">
            <a:extLst>
              <a:ext uri="{FF2B5EF4-FFF2-40B4-BE49-F238E27FC236}">
                <a16:creationId xmlns:a16="http://schemas.microsoft.com/office/drawing/2014/main" id="{27482DE1-5734-5BB9-0797-68B64DFCFD8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76801" y="4233713"/>
            <a:ext cx="4333875" cy="171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203;p17" descr="image.png">
            <a:extLst>
              <a:ext uri="{FF2B5EF4-FFF2-40B4-BE49-F238E27FC236}">
                <a16:creationId xmlns:a16="http://schemas.microsoft.com/office/drawing/2014/main" id="{DA28CACB-5F17-8AF2-36F8-16249FBDF6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723900" y="6210300"/>
            <a:ext cx="271700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STRATEGIC PROMPTING</a:t>
            </a:r>
            <a:endParaRPr dirty="0"/>
          </a:p>
        </p:txBody>
      </p:sp>
      <p:sp>
        <p:nvSpPr>
          <p:cNvPr id="378" name="Google Shape;378;p22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723899" y="532387"/>
            <a:ext cx="89062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Prompt Chaining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Workflows</a:t>
            </a:r>
            <a:endParaRPr lang="en-US" sz="3800" i="1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41D447-9553-8D14-15FE-2D2037892E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363A7-0B4B-8F36-D9DF-A20195C1ED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1" y="1069537"/>
            <a:ext cx="2362200" cy="47625"/>
          </a:xfrm>
          <a:prstGeom prst="rect">
            <a:avLst/>
          </a:prstGeom>
        </p:spPr>
      </p:pic>
      <p:sp>
        <p:nvSpPr>
          <p:cNvPr id="6" name="Google Shape;328;p25">
            <a:extLst>
              <a:ext uri="{FF2B5EF4-FFF2-40B4-BE49-F238E27FC236}">
                <a16:creationId xmlns:a16="http://schemas.microsoft.com/office/drawing/2014/main" id="{C9511A21-CEBE-5429-1B56-C8E30F1A025B}"/>
              </a:ext>
            </a:extLst>
          </p:cNvPr>
          <p:cNvSpPr/>
          <p:nvPr/>
        </p:nvSpPr>
        <p:spPr>
          <a:xfrm>
            <a:off x="1782886" y="37290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70A13"/>
          </a:solidFill>
          <a:ln w="38100" cap="flat" cmpd="sng">
            <a:solidFill>
              <a:srgbClr val="F6AC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29;p25">
            <a:extLst>
              <a:ext uri="{FF2B5EF4-FFF2-40B4-BE49-F238E27FC236}">
                <a16:creationId xmlns:a16="http://schemas.microsoft.com/office/drawing/2014/main" id="{730155B5-1AB4-145A-2DF4-758DCF97C817}"/>
              </a:ext>
            </a:extLst>
          </p:cNvPr>
          <p:cNvSpPr/>
          <p:nvPr/>
        </p:nvSpPr>
        <p:spPr>
          <a:xfrm>
            <a:off x="4601095" y="37290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70A13"/>
          </a:solidFill>
          <a:ln w="38100" cap="flat" cmpd="sng">
            <a:solidFill>
              <a:srgbClr val="F6AC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30;p25">
            <a:extLst>
              <a:ext uri="{FF2B5EF4-FFF2-40B4-BE49-F238E27FC236}">
                <a16:creationId xmlns:a16="http://schemas.microsoft.com/office/drawing/2014/main" id="{10DFF248-6AA2-9E72-05E0-516DB097B3EA}"/>
              </a:ext>
            </a:extLst>
          </p:cNvPr>
          <p:cNvSpPr/>
          <p:nvPr/>
        </p:nvSpPr>
        <p:spPr>
          <a:xfrm>
            <a:off x="7419305" y="37290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70A13"/>
          </a:solidFill>
          <a:ln w="38100" cap="flat" cmpd="sng">
            <a:solidFill>
              <a:srgbClr val="F6AC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31;p25">
            <a:extLst>
              <a:ext uri="{FF2B5EF4-FFF2-40B4-BE49-F238E27FC236}">
                <a16:creationId xmlns:a16="http://schemas.microsoft.com/office/drawing/2014/main" id="{FD420513-BC38-4419-7834-6DECC8293247}"/>
              </a:ext>
            </a:extLst>
          </p:cNvPr>
          <p:cNvSpPr/>
          <p:nvPr/>
        </p:nvSpPr>
        <p:spPr>
          <a:xfrm>
            <a:off x="10237514" y="372903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70A13"/>
          </a:solidFill>
          <a:ln w="38100" cap="flat" cmpd="sng">
            <a:solidFill>
              <a:srgbClr val="F6AC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34;p25">
            <a:extLst>
              <a:ext uri="{FF2B5EF4-FFF2-40B4-BE49-F238E27FC236}">
                <a16:creationId xmlns:a16="http://schemas.microsoft.com/office/drawing/2014/main" id="{A5CD316B-51F8-0883-55EB-EAC6B62347BE}"/>
              </a:ext>
            </a:extLst>
          </p:cNvPr>
          <p:cNvSpPr/>
          <p:nvPr/>
        </p:nvSpPr>
        <p:spPr>
          <a:xfrm>
            <a:off x="676275" y="3795712"/>
            <a:ext cx="108394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35;p25">
            <a:extLst>
              <a:ext uri="{FF2B5EF4-FFF2-40B4-BE49-F238E27FC236}">
                <a16:creationId xmlns:a16="http://schemas.microsoft.com/office/drawing/2014/main" id="{AACA7AFA-EAD9-9399-BE4F-4E5EA8AF883F}"/>
              </a:ext>
            </a:extLst>
          </p:cNvPr>
          <p:cNvSpPr txBox="1"/>
          <p:nvPr/>
        </p:nvSpPr>
        <p:spPr>
          <a:xfrm>
            <a:off x="616658" y="4052887"/>
            <a:ext cx="25039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Schema Planning</a:t>
            </a:r>
            <a:endParaRPr sz="22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Google Shape;336;p25">
            <a:extLst>
              <a:ext uri="{FF2B5EF4-FFF2-40B4-BE49-F238E27FC236}">
                <a16:creationId xmlns:a16="http://schemas.microsoft.com/office/drawing/2014/main" id="{73936589-3743-160A-1E00-03E9771C9314}"/>
              </a:ext>
            </a:extLst>
          </p:cNvPr>
          <p:cNvSpPr txBox="1"/>
          <p:nvPr/>
        </p:nvSpPr>
        <p:spPr>
          <a:xfrm>
            <a:off x="532177" y="4469873"/>
            <a:ext cx="26728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Generate database constraints and operational data structures first.</a:t>
            </a:r>
            <a:endParaRPr sz="1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0" name="Google Shape;337;p25">
            <a:extLst>
              <a:ext uri="{FF2B5EF4-FFF2-40B4-BE49-F238E27FC236}">
                <a16:creationId xmlns:a16="http://schemas.microsoft.com/office/drawing/2014/main" id="{8C986D97-194B-6F57-21CE-CC9A270ECC31}"/>
              </a:ext>
            </a:extLst>
          </p:cNvPr>
          <p:cNvSpPr txBox="1"/>
          <p:nvPr/>
        </p:nvSpPr>
        <p:spPr>
          <a:xfrm>
            <a:off x="3349142" y="2124222"/>
            <a:ext cx="25039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Service Code</a:t>
            </a:r>
            <a:endParaRPr sz="22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2" name="Google Shape;338;p25">
            <a:extLst>
              <a:ext uri="{FF2B5EF4-FFF2-40B4-BE49-F238E27FC236}">
                <a16:creationId xmlns:a16="http://schemas.microsoft.com/office/drawing/2014/main" id="{A1785AD0-8E59-6F43-74D3-090C260FBEA4}"/>
              </a:ext>
            </a:extLst>
          </p:cNvPr>
          <p:cNvSpPr txBox="1"/>
          <p:nvPr/>
        </p:nvSpPr>
        <p:spPr>
          <a:xfrm>
            <a:off x="3164550" y="2595861"/>
            <a:ext cx="304453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Build backend service layer APIs aligning directly with the planned schema.</a:t>
            </a:r>
            <a:endParaRPr sz="1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4" name="Google Shape;339;p25">
            <a:extLst>
              <a:ext uri="{FF2B5EF4-FFF2-40B4-BE49-F238E27FC236}">
                <a16:creationId xmlns:a16="http://schemas.microsoft.com/office/drawing/2014/main" id="{A704A2BE-2906-3F36-8988-2F6A2EB1A569}"/>
              </a:ext>
            </a:extLst>
          </p:cNvPr>
          <p:cNvSpPr txBox="1"/>
          <p:nvPr/>
        </p:nvSpPr>
        <p:spPr>
          <a:xfrm>
            <a:off x="6253076" y="4052887"/>
            <a:ext cx="25039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UI Assembly</a:t>
            </a:r>
            <a:endParaRPr sz="22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6" name="Google Shape;340;p25">
            <a:extLst>
              <a:ext uri="{FF2B5EF4-FFF2-40B4-BE49-F238E27FC236}">
                <a16:creationId xmlns:a16="http://schemas.microsoft.com/office/drawing/2014/main" id="{D0CEFD46-3B4A-EC37-A736-21F69857A8CF}"/>
              </a:ext>
            </a:extLst>
          </p:cNvPr>
          <p:cNvSpPr txBox="1"/>
          <p:nvPr/>
        </p:nvSpPr>
        <p:spPr>
          <a:xfrm>
            <a:off x="6074092" y="4469873"/>
            <a:ext cx="303332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Develop front-end components mapped to active API definitions.</a:t>
            </a:r>
            <a:endParaRPr sz="1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Google Shape;341;p25">
            <a:extLst>
              <a:ext uri="{FF2B5EF4-FFF2-40B4-BE49-F238E27FC236}">
                <a16:creationId xmlns:a16="http://schemas.microsoft.com/office/drawing/2014/main" id="{15321B62-F023-57FE-5B81-6A9E228A294D}"/>
              </a:ext>
            </a:extLst>
          </p:cNvPr>
          <p:cNvSpPr txBox="1"/>
          <p:nvPr/>
        </p:nvSpPr>
        <p:spPr>
          <a:xfrm>
            <a:off x="9071286" y="2124222"/>
            <a:ext cx="250390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Unit Testing</a:t>
            </a:r>
            <a:endParaRPr sz="2200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" name="Google Shape;342;p25">
            <a:extLst>
              <a:ext uri="{FF2B5EF4-FFF2-40B4-BE49-F238E27FC236}">
                <a16:creationId xmlns:a16="http://schemas.microsoft.com/office/drawing/2014/main" id="{9C9B755B-0023-A149-B1FE-3C9CA8B0C68F}"/>
              </a:ext>
            </a:extLst>
          </p:cNvPr>
          <p:cNvSpPr txBox="1"/>
          <p:nvPr/>
        </p:nvSpPr>
        <p:spPr>
          <a:xfrm>
            <a:off x="8878415" y="2595860"/>
            <a:ext cx="306109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Run dynamic checks on integration workflows and mock state pipelines.</a:t>
            </a:r>
            <a:endParaRPr sz="1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03;p17" descr="image.png">
            <a:extLst>
              <a:ext uri="{FF2B5EF4-FFF2-40B4-BE49-F238E27FC236}">
                <a16:creationId xmlns:a16="http://schemas.microsoft.com/office/drawing/2014/main" id="{053D9FA7-7EB3-CFCB-01C7-3C9FBF1A0D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723899" y="6224929"/>
            <a:ext cx="271700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CONNECTION</a:t>
            </a:r>
            <a:endParaRPr dirty="0"/>
          </a:p>
        </p:txBody>
      </p:sp>
      <p:sp>
        <p:nvSpPr>
          <p:cNvPr id="378" name="Google Shape;378;p22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723899" y="533400"/>
            <a:ext cx="89062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Expanding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Agent</a:t>
            </a:r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 Tools</a:t>
            </a:r>
            <a:endParaRPr lang="en-US" sz="3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3124199" y="1089600"/>
            <a:ext cx="1268187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ABC74B-CDC2-F363-9AF2-CA8EE0EE4B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642C5F-40BC-DD60-42C5-83847F18E1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861" y="1470600"/>
            <a:ext cx="5231238" cy="3693311"/>
          </a:xfrm>
          <a:prstGeom prst="rect">
            <a:avLst/>
          </a:prstGeom>
          <a:ln>
            <a:solidFill>
              <a:srgbClr val="F6AC3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convex"/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0A2962-A175-B610-F458-B85C5A42F39F}"/>
              </a:ext>
            </a:extLst>
          </p:cNvPr>
          <p:cNvSpPr txBox="1"/>
          <p:nvPr/>
        </p:nvSpPr>
        <p:spPr>
          <a:xfrm>
            <a:off x="391545" y="2051979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Connecting LLMs to APIs</a:t>
            </a:r>
            <a:endParaRPr lang="en-US" sz="28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F9B88E-0FD4-8D2B-39ED-C70B58561E71}"/>
              </a:ext>
            </a:extLst>
          </p:cNvPr>
          <p:cNvSpPr txBox="1"/>
          <p:nvPr/>
        </p:nvSpPr>
        <p:spPr>
          <a:xfrm>
            <a:off x="708932" y="2902519"/>
            <a:ext cx="53108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Raw foundational models are frozen snapshots of training datasets. Tool calling empowers them to execute active external mutations on real-world databases.</a:t>
            </a:r>
          </a:p>
          <a:p>
            <a:r>
              <a:rPr lang="en-GB" sz="1800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By declaring structured JSON API configurations, agents can dynamically search, calculate math, or mutate server state based on human instruction loops.</a:t>
            </a:r>
            <a:endParaRPr lang="en-GB" sz="18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178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234;p17">
            <a:extLst>
              <a:ext uri="{FF2B5EF4-FFF2-40B4-BE49-F238E27FC236}">
                <a16:creationId xmlns:a16="http://schemas.microsoft.com/office/drawing/2014/main" id="{2AD2C7B6-952F-DF48-12BF-749C978B242E}"/>
              </a:ext>
            </a:extLst>
          </p:cNvPr>
          <p:cNvSpPr/>
          <p:nvPr/>
        </p:nvSpPr>
        <p:spPr>
          <a:xfrm flipH="1" flipV="1">
            <a:off x="6788628" y="735618"/>
            <a:ext cx="174575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  <p:pic>
        <p:nvPicPr>
          <p:cNvPr id="30" name="Google Shape;501;p26" descr="image.png">
            <a:extLst>
              <a:ext uri="{FF2B5EF4-FFF2-40B4-BE49-F238E27FC236}">
                <a16:creationId xmlns:a16="http://schemas.microsoft.com/office/drawing/2014/main" id="{7B2D3BBB-FCEA-9107-A5ED-30A322E469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3"/>
          <p:cNvSpPr txBox="1"/>
          <p:nvPr/>
        </p:nvSpPr>
        <p:spPr>
          <a:xfrm>
            <a:off x="723900" y="6210300"/>
            <a:ext cx="25748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ISSUES</a:t>
            </a:r>
            <a:endParaRPr dirty="0"/>
          </a:p>
        </p:txBody>
      </p:sp>
      <p:sp>
        <p:nvSpPr>
          <p:cNvPr id="428" name="Google Shape;428;p23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723899" y="533400"/>
            <a:ext cx="84779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Common Mistakes to Avoid</a:t>
            </a:r>
            <a:endParaRPr lang="en-US" sz="3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C5549E-CBBB-15C0-6A25-0E020F82BF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D6DDE-3DC3-F27B-F454-250102737836}"/>
              </a:ext>
            </a:extLst>
          </p:cNvPr>
          <p:cNvSpPr txBox="1"/>
          <p:nvPr/>
        </p:nvSpPr>
        <p:spPr>
          <a:xfrm>
            <a:off x="1148783" y="1974413"/>
            <a:ext cx="974203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Vague System Context:</a:t>
            </a:r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</a:t>
            </a:r>
            <a:r>
              <a:rPr lang="en-GB" sz="25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Relying on simple, high-level directives without specifying precise system requirements.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Missing Guardrails:</a:t>
            </a:r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</a:t>
            </a:r>
            <a:r>
              <a:rPr lang="en-GB" sz="2500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Omitting negative constraints, leading to logical deviations and hallucinations.</a:t>
            </a:r>
            <a:endParaRPr lang="en-GB" sz="25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Large Single-Step Prompts:</a:t>
            </a:r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</a:t>
            </a:r>
            <a:r>
              <a:rPr lang="en-GB" sz="2500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Overloading a single prompt with multiple complex tasks rather than chaining them sequentially.</a:t>
            </a:r>
            <a:endParaRPr lang="en-GB" sz="25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Zero Formatting Rules:</a:t>
            </a:r>
            <a:r>
              <a:rPr lang="en-US" sz="2800" b="1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</a:t>
            </a:r>
            <a:r>
              <a:rPr lang="en-GB" sz="2500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Neglecting to dictate the exact structural outputs required by backend parsers.</a:t>
            </a:r>
            <a:endParaRPr lang="en-GB" sz="25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8" name="Google Shape;386;p28" descr="image.png">
            <a:extLst>
              <a:ext uri="{FF2B5EF4-FFF2-40B4-BE49-F238E27FC236}">
                <a16:creationId xmlns:a16="http://schemas.microsoft.com/office/drawing/2014/main" id="{516F8215-6148-37AC-0191-F528CD35EC9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01732" y="488950"/>
            <a:ext cx="548368" cy="5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528;p27" descr="image.png">
            <a:extLst>
              <a:ext uri="{FF2B5EF4-FFF2-40B4-BE49-F238E27FC236}">
                <a16:creationId xmlns:a16="http://schemas.microsoft.com/office/drawing/2014/main" id="{0B04AA13-C7F7-4564-7BB2-10B53D1839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1920" y="0"/>
            <a:ext cx="1231392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2735" y="5702748"/>
            <a:ext cx="266700" cy="27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 txBox="1"/>
          <p:nvPr/>
        </p:nvSpPr>
        <p:spPr>
          <a:xfrm>
            <a:off x="723900" y="6210300"/>
            <a:ext cx="181957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VIBE CODING</a:t>
            </a:r>
            <a:endParaRPr dirty="0"/>
          </a:p>
        </p:txBody>
      </p:sp>
      <p:sp>
        <p:nvSpPr>
          <p:cNvPr id="453" name="Google Shape;453;p24"/>
          <p:cNvSpPr txBox="1"/>
          <p:nvPr/>
        </p:nvSpPr>
        <p:spPr>
          <a:xfrm>
            <a:off x="10574685" y="5736085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25" name="Google Shape;440;p23">
            <a:extLst>
              <a:ext uri="{FF2B5EF4-FFF2-40B4-BE49-F238E27FC236}">
                <a16:creationId xmlns:a16="http://schemas.microsoft.com/office/drawing/2014/main" id="{FFF09487-55C2-488B-8C2A-AC84EEF47E0E}"/>
              </a:ext>
            </a:extLst>
          </p:cNvPr>
          <p:cNvSpPr txBox="1"/>
          <p:nvPr/>
        </p:nvSpPr>
        <p:spPr>
          <a:xfrm>
            <a:off x="723899" y="533400"/>
            <a:ext cx="84779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What is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Vibe Coding?</a:t>
            </a:r>
            <a:endParaRPr lang="en-US" sz="3800" i="1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6" name="Google Shape;441;p23">
            <a:extLst>
              <a:ext uri="{FF2B5EF4-FFF2-40B4-BE49-F238E27FC236}">
                <a16:creationId xmlns:a16="http://schemas.microsoft.com/office/drawing/2014/main" id="{A4B15AC5-2606-4213-B58C-E63D5855CB74}"/>
              </a:ext>
            </a:extLst>
          </p:cNvPr>
          <p:cNvSpPr/>
          <p:nvPr/>
        </p:nvSpPr>
        <p:spPr>
          <a:xfrm flipV="1">
            <a:off x="2543472" y="1111182"/>
            <a:ext cx="2514912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B98778-78D2-D554-0360-3CAA2D9663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514EA-AF0E-2441-9460-A5CFCB23F54A}"/>
              </a:ext>
            </a:extLst>
          </p:cNvPr>
          <p:cNvSpPr txBox="1"/>
          <p:nvPr/>
        </p:nvSpPr>
        <p:spPr>
          <a:xfrm>
            <a:off x="9765303" y="97746"/>
            <a:ext cx="344845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0" b="1" i="0" u="none" strike="noStrike" cap="none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10x</a:t>
            </a:r>
          </a:p>
          <a:p>
            <a:r>
              <a:rPr lang="en-US" sz="2600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Velocity Transformation</a:t>
            </a:r>
            <a:endParaRPr lang="en-US" sz="26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9BBC3-1D38-978F-51E0-2BB6E217AB50}"/>
              </a:ext>
            </a:extLst>
          </p:cNvPr>
          <p:cNvSpPr txBox="1"/>
          <p:nvPr/>
        </p:nvSpPr>
        <p:spPr>
          <a:xfrm>
            <a:off x="5481013" y="2375293"/>
            <a:ext cx="6099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The Paradigm Shift</a:t>
            </a:r>
            <a:endParaRPr lang="en-US" sz="2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FC63C-6254-0100-D46B-9F36F68CF717}"/>
              </a:ext>
            </a:extLst>
          </p:cNvPr>
          <p:cNvSpPr txBox="1"/>
          <p:nvPr/>
        </p:nvSpPr>
        <p:spPr>
          <a:xfrm>
            <a:off x="5481013" y="3117959"/>
            <a:ext cx="53939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cap="none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A fast-paced, high-level approach to development where engineers move away from manually writing line-by-line syntax.</a:t>
            </a:r>
          </a:p>
          <a:p>
            <a:r>
              <a:rPr lang="en-GB" sz="2000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Instead, humans focus on defining logical frameworks, high-level design systems, and validation checks, leaving the actual code generation to autonomous AI agents.</a:t>
            </a:r>
            <a:endParaRPr lang="en-GB" sz="20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27B132-AF33-30A8-0A2D-44C3F8AE91D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444" r="9333"/>
          <a:stretch>
            <a:fillRect/>
          </a:stretch>
        </p:blipFill>
        <p:spPr>
          <a:xfrm>
            <a:off x="723899" y="1995833"/>
            <a:ext cx="4260715" cy="30885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6"/>
          <p:cNvSpPr txBox="1"/>
          <p:nvPr/>
        </p:nvSpPr>
        <p:spPr>
          <a:xfrm>
            <a:off x="723900" y="6266765"/>
            <a:ext cx="272176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</a:t>
            </a:r>
            <a:r>
              <a:rPr lang="en-US" sz="1050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DEVELOPMENT</a:t>
            </a:r>
            <a:endParaRPr dirty="0"/>
          </a:p>
        </p:txBody>
      </p:sp>
      <p:sp>
        <p:nvSpPr>
          <p:cNvPr id="513" name="Google Shape;513;p26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522" name="Google Shape;522;p26"/>
          <p:cNvSpPr txBox="1"/>
          <p:nvPr/>
        </p:nvSpPr>
        <p:spPr>
          <a:xfrm>
            <a:off x="723900" y="533400"/>
            <a:ext cx="712373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Modern Developer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Workflows</a:t>
            </a:r>
            <a:endParaRPr lang="en-US" sz="3800" i="1" dirty="0">
              <a:solidFill>
                <a:srgbClr val="F6AC3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5155659" y="1074925"/>
            <a:ext cx="1381327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1CC8D2-B972-B76A-1C66-8E5D088632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239E6-0685-13F5-04BF-B8ECD3D822F9}"/>
              </a:ext>
            </a:extLst>
          </p:cNvPr>
          <p:cNvSpPr txBox="1"/>
          <p:nvPr/>
        </p:nvSpPr>
        <p:spPr>
          <a:xfrm>
            <a:off x="723900" y="1696180"/>
            <a:ext cx="678585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The developer's primary job has changed. We are transitioning from raw coders to systems orchestrators and QA evaluators.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800" b="0" i="0" u="none" strike="noStrike" cap="none" dirty="0">
              <a:solidFill>
                <a:schemeClr val="tx1"/>
              </a:solidFill>
              <a:latin typeface="Times" panose="02020603050405020304" pitchFamily="18" charset="0"/>
              <a:ea typeface="Inter"/>
              <a:cs typeface="Times" panose="02020603050405020304" pitchFamily="18" charset="0"/>
              <a:sym typeface="Inter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Agentic IDEs:</a:t>
            </a:r>
            <a:r>
              <a:rPr lang="en-GB" sz="2400" b="1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</a:t>
            </a:r>
            <a:r>
              <a:rPr lang="en-GB" sz="2400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Tools like Cursor and Windsurf autonomously plan, modify, and build complex projects.</a:t>
            </a:r>
            <a:endParaRPr lang="en-GB" sz="24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Continuous Review:</a:t>
            </a:r>
            <a:r>
              <a:rPr lang="en-GB" sz="2400" b="1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</a:t>
            </a:r>
            <a:r>
              <a:rPr lang="en-GB" sz="2400" dirty="0">
                <a:solidFill>
                  <a:srgbClr val="5E6E82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Developers guide the process by reviewing, testing, and debugging AI outputs.</a:t>
            </a:r>
            <a:endParaRPr lang="en-GB" sz="2400" dirty="0">
              <a:solidFill>
                <a:srgbClr val="5E6E82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Google Shape;415;p30" descr="image.png">
            <a:extLst>
              <a:ext uri="{FF2B5EF4-FFF2-40B4-BE49-F238E27FC236}">
                <a16:creationId xmlns:a16="http://schemas.microsoft.com/office/drawing/2014/main" id="{FA2792E7-7C99-9B5E-57BB-6148097488D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847635" y="2220692"/>
            <a:ext cx="4093723" cy="24166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6"/>
          <p:cNvSpPr txBox="1"/>
          <p:nvPr/>
        </p:nvSpPr>
        <p:spPr>
          <a:xfrm>
            <a:off x="723900" y="6210300"/>
            <a:ext cx="228019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BUILD PRODUCT</a:t>
            </a:r>
            <a:endParaRPr dirty="0"/>
          </a:p>
        </p:txBody>
      </p:sp>
      <p:sp>
        <p:nvSpPr>
          <p:cNvPr id="513" name="Google Shape;513;p26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522" name="Google Shape;522;p26"/>
          <p:cNvSpPr txBox="1"/>
          <p:nvPr/>
        </p:nvSpPr>
        <p:spPr>
          <a:xfrm>
            <a:off x="723899" y="535869"/>
            <a:ext cx="931135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25-Minute </a:t>
            </a:r>
            <a:r>
              <a:rPr lang="en-US" sz="3800" b="1" i="1" dirty="0">
                <a:solidFill>
                  <a:srgbClr val="F6AC3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Production</a:t>
            </a:r>
            <a:r>
              <a:rPr lang="en-US" sz="3800" b="1" dirty="0">
                <a:solidFill>
                  <a:schemeClr val="tx1"/>
                </a:solidFill>
                <a:latin typeface="Times" panose="02020603050405020304" pitchFamily="18" charset="0"/>
                <a:ea typeface="Space Grotesk"/>
                <a:cs typeface="Times" panose="02020603050405020304" pitchFamily="18" charset="0"/>
                <a:sym typeface="Space Grotesk"/>
              </a:rPr>
              <a:t> Build</a:t>
            </a:r>
            <a:endParaRPr lang="en-US" sz="38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723899" y="1074925"/>
            <a:ext cx="5696356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2C807A-EE92-84EF-C150-37D826C11F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sp>
        <p:nvSpPr>
          <p:cNvPr id="5" name="Google Shape;432;p31">
            <a:extLst>
              <a:ext uri="{FF2B5EF4-FFF2-40B4-BE49-F238E27FC236}">
                <a16:creationId xmlns:a16="http://schemas.microsoft.com/office/drawing/2014/main" id="{76634DE7-C313-8523-6316-839BA49B9E27}"/>
              </a:ext>
            </a:extLst>
          </p:cNvPr>
          <p:cNvSpPr txBox="1"/>
          <p:nvPr/>
        </p:nvSpPr>
        <p:spPr>
          <a:xfrm>
            <a:off x="2110192" y="1695405"/>
            <a:ext cx="86201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Identify the Target: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Build a fully-featured travel planner app.</a:t>
            </a:r>
            <a:endParaRPr sz="26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Google Shape;433;p31">
            <a:extLst>
              <a:ext uri="{FF2B5EF4-FFF2-40B4-BE49-F238E27FC236}">
                <a16:creationId xmlns:a16="http://schemas.microsoft.com/office/drawing/2014/main" id="{4EBF7FAE-22D1-FA29-F918-093B24E04155}"/>
              </a:ext>
            </a:extLst>
          </p:cNvPr>
          <p:cNvSpPr txBox="1"/>
          <p:nvPr/>
        </p:nvSpPr>
        <p:spPr>
          <a:xfrm>
            <a:off x="2109728" y="2295569"/>
            <a:ext cx="8620125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Apply Prompt Rules: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Use a detailed system role, clean parameters, and structural rules.</a:t>
            </a:r>
            <a:endParaRPr sz="26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Google Shape;434;p31">
            <a:extLst>
              <a:ext uri="{FF2B5EF4-FFF2-40B4-BE49-F238E27FC236}">
                <a16:creationId xmlns:a16="http://schemas.microsoft.com/office/drawing/2014/main" id="{4488152F-4CEF-4EDE-FB20-9033ECC695F4}"/>
              </a:ext>
            </a:extLst>
          </p:cNvPr>
          <p:cNvSpPr txBox="1"/>
          <p:nvPr/>
        </p:nvSpPr>
        <p:spPr>
          <a:xfrm>
            <a:off x="2109728" y="3225387"/>
            <a:ext cx="8081575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Iterative Refinement: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Build the UI first, connect the APIs, and debug any issues with the AI agent.</a:t>
            </a:r>
            <a:endParaRPr sz="26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Google Shape;435;p31">
            <a:extLst>
              <a:ext uri="{FF2B5EF4-FFF2-40B4-BE49-F238E27FC236}">
                <a16:creationId xmlns:a16="http://schemas.microsoft.com/office/drawing/2014/main" id="{9E08C1CA-0377-C903-D4A9-BED26C17D52B}"/>
              </a:ext>
            </a:extLst>
          </p:cNvPr>
          <p:cNvSpPr txBox="1"/>
          <p:nvPr/>
        </p:nvSpPr>
        <p:spPr>
          <a:xfrm>
            <a:off x="2109729" y="4211343"/>
            <a:ext cx="6353788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 SemiBold"/>
                <a:cs typeface="Times" panose="02020603050405020304" pitchFamily="18" charset="0"/>
                <a:sym typeface="Inter SemiBold"/>
              </a:rPr>
              <a:t>Deploy to Production: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Times" panose="02020603050405020304" pitchFamily="18" charset="0"/>
                <a:ea typeface="Inter"/>
                <a:cs typeface="Times" panose="02020603050405020304" pitchFamily="18" charset="0"/>
                <a:sym typeface="Inter"/>
              </a:rPr>
              <a:t> Ship the working app to a live staging server in under 25 minutes.</a:t>
            </a:r>
            <a:endParaRPr sz="26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3" name="Google Shape;436;p31" descr="image.png">
            <a:extLst>
              <a:ext uri="{FF2B5EF4-FFF2-40B4-BE49-F238E27FC236}">
                <a16:creationId xmlns:a16="http://schemas.microsoft.com/office/drawing/2014/main" id="{BFFB2C53-D3E2-F1DE-AB55-22C91787495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66875" y="189547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437;p31" descr="image.png">
            <a:extLst>
              <a:ext uri="{FF2B5EF4-FFF2-40B4-BE49-F238E27FC236}">
                <a16:creationId xmlns:a16="http://schemas.microsoft.com/office/drawing/2014/main" id="{2A269184-734A-A512-7AED-FD011ADDCE0C}"/>
              </a:ext>
            </a:extLst>
          </p:cNvPr>
          <p:cNvPicPr preferRelativeResize="0"/>
          <p:nvPr/>
        </p:nvPicPr>
        <p:blipFill rotWithShape="1">
          <a:blip r:embed="rId6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37967" y="237721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38;p31" descr="image.png">
            <a:extLst>
              <a:ext uri="{FF2B5EF4-FFF2-40B4-BE49-F238E27FC236}">
                <a16:creationId xmlns:a16="http://schemas.microsoft.com/office/drawing/2014/main" id="{0F01AFA9-2859-5E98-D032-F763EC654AF6}"/>
              </a:ext>
            </a:extLst>
          </p:cNvPr>
          <p:cNvPicPr preferRelativeResize="0"/>
          <p:nvPr/>
        </p:nvPicPr>
        <p:blipFill rotWithShape="1">
          <a:blip r:embed="rId7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18917" y="33289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439;p31" descr="image.png">
            <a:extLst>
              <a:ext uri="{FF2B5EF4-FFF2-40B4-BE49-F238E27FC236}">
                <a16:creationId xmlns:a16="http://schemas.microsoft.com/office/drawing/2014/main" id="{83A354D8-4996-A074-806B-C9E6D827174B}"/>
              </a:ext>
            </a:extLst>
          </p:cNvPr>
          <p:cNvPicPr preferRelativeResize="0"/>
          <p:nvPr/>
        </p:nvPicPr>
        <p:blipFill rotWithShape="1">
          <a:blip r:embed="rId8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78369" y="434412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1FCACBF-3889-6CBF-250F-15DC19AF4B5F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rcRect l="3860" r="3547" b="2418"/>
          <a:stretch>
            <a:fillRect/>
          </a:stretch>
        </p:blipFill>
        <p:spPr>
          <a:xfrm>
            <a:off x="9394631" y="3835062"/>
            <a:ext cx="2670443" cy="16471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27508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192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873" y="2837918"/>
            <a:ext cx="8096250" cy="118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303" y="61531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6000750"/>
            <a:ext cx="107442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7"/>
          <p:cNvSpPr txBox="1"/>
          <p:nvPr/>
        </p:nvSpPr>
        <p:spPr>
          <a:xfrm>
            <a:off x="723900" y="6210300"/>
            <a:ext cx="187508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SEASON • CONCLUSION</a:t>
            </a:r>
            <a:endParaRPr/>
          </a:p>
        </p:txBody>
      </p:sp>
      <p:sp>
        <p:nvSpPr>
          <p:cNvPr id="534" name="Google Shape;534;p27"/>
          <p:cNvSpPr txBox="1"/>
          <p:nvPr/>
        </p:nvSpPr>
        <p:spPr>
          <a:xfrm>
            <a:off x="1852016" y="1136333"/>
            <a:ext cx="850106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1" dirty="0">
                <a:latin typeface="Times" panose="02020603050405020304" pitchFamily="18" charset="0"/>
                <a:cs typeface="Times" panose="02020603050405020304" pitchFamily="18" charset="0"/>
              </a:rPr>
              <a:t>Innovation </a:t>
            </a:r>
            <a:r>
              <a:rPr lang="en-US" sz="4000" b="1" dirty="0">
                <a:solidFill>
                  <a:srgbClr val="F6AC3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Begins</a:t>
            </a:r>
            <a:r>
              <a:rPr lang="en-US" sz="4000" b="1" i="1" dirty="0">
                <a:latin typeface="Times" panose="02020603050405020304" pitchFamily="18" charset="0"/>
                <a:cs typeface="Times" panose="02020603050405020304" pitchFamily="18" charset="0"/>
              </a:rPr>
              <a:t> with Curiosity</a:t>
            </a:r>
            <a:endParaRPr sz="4000" b="1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10553253" y="6186487"/>
            <a:ext cx="91484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-US" sz="1350" b="1" i="0" u="none" strike="noStrike" cap="non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SEASON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2673355" y="2967335"/>
            <a:ext cx="68583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"AI will not replace humans. But humans using AI will replace humans not using AI."</a:t>
            </a:r>
            <a:endParaRPr sz="2000" dirty="0"/>
          </a:p>
        </p:txBody>
      </p:sp>
      <p:pic>
        <p:nvPicPr>
          <p:cNvPr id="537" name="Google Shape;53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73443" y="4644390"/>
            <a:ext cx="270897" cy="23871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7"/>
          <p:cNvSpPr txBox="1"/>
          <p:nvPr/>
        </p:nvSpPr>
        <p:spPr>
          <a:xfrm>
            <a:off x="4320540" y="4554378"/>
            <a:ext cx="120238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Q&amp;A Session</a:t>
            </a:r>
            <a:endParaRPr sz="1600" dirty="0"/>
          </a:p>
        </p:txBody>
      </p:sp>
      <p:pic>
        <p:nvPicPr>
          <p:cNvPr id="539" name="Google Shape;539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7236" y="4716598"/>
            <a:ext cx="244912" cy="19812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7"/>
          <p:cNvSpPr txBox="1"/>
          <p:nvPr/>
        </p:nvSpPr>
        <p:spPr>
          <a:xfrm>
            <a:off x="6712148" y="4644390"/>
            <a:ext cx="12023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aiseason.tech</a:t>
            </a:r>
            <a:endParaRPr sz="16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BCE933-FDB3-4E61-F131-6078E67446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/>
              <a:t>BY SYEDA SARA ALI</a:t>
            </a:r>
          </a:p>
        </p:txBody>
      </p:sp>
      <p:sp>
        <p:nvSpPr>
          <p:cNvPr id="4" name="Google Shape;234;p17">
            <a:extLst>
              <a:ext uri="{FF2B5EF4-FFF2-40B4-BE49-F238E27FC236}">
                <a16:creationId xmlns:a16="http://schemas.microsoft.com/office/drawing/2014/main" id="{F0F44813-3828-E766-58C3-4F0DD0FFCAB4}"/>
              </a:ext>
            </a:extLst>
          </p:cNvPr>
          <p:cNvSpPr/>
          <p:nvPr/>
        </p:nvSpPr>
        <p:spPr>
          <a:xfrm flipV="1">
            <a:off x="5475514" y="1779005"/>
            <a:ext cx="544286" cy="4571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" panose="02020603050405020304" pitchFamily="18" charset="0"/>
              <a:ea typeface="Calibri"/>
              <a:cs typeface="Times" panose="02020603050405020304" pitchFamily="18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1230</Words>
  <Application>Microsoft Office PowerPoint</Application>
  <PresentationFormat>Widescreen</PresentationFormat>
  <Paragraphs>188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 New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Syeda Sara Ali</dc:creator>
  <cp:lastModifiedBy>Syeda Sara Ali</cp:lastModifiedBy>
  <cp:revision>26</cp:revision>
  <dcterms:modified xsi:type="dcterms:W3CDTF">2026-07-02T19:35:55Z</dcterms:modified>
</cp:coreProperties>
</file>