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738" y="2316063"/>
            <a:ext cx="2562225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59380" y="2792313"/>
            <a:ext cx="8473090" cy="635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b="1" sz="4350" i="0" u="none">
                <a:solidFill>
                  <a:srgbClr val="F8FAFC"/>
                </a:solidFill>
                <a:latin typeface="Plus Jakarta Sans"/>
              </a:rPr>
              <a:t>Loop Engineering for Beginners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1120" y="3570386"/>
            <a:ext cx="806960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818CF8"/>
                </a:solidFill>
                <a:latin typeface="Inter Medium"/>
              </a:rPr>
              <a:t>From Simple RAG to Self-Correcting Production AI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61120" y="4265711"/>
            <a:ext cx="8069609" cy="228600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Practical Implementations &amp; Industry Patterns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201" y="4303811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21768"/>
            <a:ext cx="5372100" cy="2081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833562"/>
            <a:ext cx="5372100" cy="1352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3328987"/>
            <a:ext cx="5372100" cy="11096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4581525"/>
            <a:ext cx="5372100" cy="11096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66737"/>
            <a:ext cx="231278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3925" y="3064668"/>
            <a:ext cx="4686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0" sz="6000" i="0" u="none">
                <a:solidFill>
                  <a:srgbClr val="38BDF8"/>
                </a:solidFill>
                <a:latin typeface="Plus Jakarta Sans ExtraBold"/>
              </a:rPr>
              <a:t>5–50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921918"/>
            <a:ext cx="4686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8FAFC"/>
                </a:solidFill>
                <a:latin typeface="Inter SemiBold"/>
              </a:rPr>
              <a:t>Hidden Loops Per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245768"/>
            <a:ext cx="46863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ChatGPT feels like 1 reply. Real systems run loops you never see.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2109787"/>
            <a:ext cx="5060632" cy="219075"/>
          </a:xfrm>
          <a:prstGeom prst="rect">
            <a:avLst/>
          </a:prstGeom>
          <a:noFill/>
        </p:spPr>
        <p:txBody>
          <a:bodyPr wrap="square" lIns="215651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Klarna AI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2424112"/>
            <a:ext cx="48196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Handled </a:t>
            </a:r>
            <a:r>
              <a:rPr b="1" sz="1275" i="0" u="none">
                <a:solidFill>
                  <a:srgbClr val="94A3B8"/>
                </a:solidFill>
                <a:latin typeface="Inter"/>
              </a:rPr>
              <a:t>2.3M conversations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in month one using automated evaluation &amp; routing loops.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605212"/>
            <a:ext cx="5060632" cy="219075"/>
          </a:xfrm>
          <a:prstGeom prst="rect">
            <a:avLst/>
          </a:prstGeom>
          <a:noFill/>
        </p:spPr>
        <p:txBody>
          <a:bodyPr wrap="square" lIns="168026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Perplexity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3919537"/>
            <a:ext cx="48196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→ →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4857750"/>
            <a:ext cx="5060632" cy="219075"/>
          </a:xfrm>
          <a:prstGeom prst="rect">
            <a:avLst/>
          </a:prstGeom>
          <a:noFill/>
        </p:spPr>
        <p:txBody>
          <a:bodyPr wrap="square" lIns="215651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GitHub Copilot &amp; Amazon Rufus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5172075"/>
            <a:ext cx="48196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Writes </a:t>
            </a:r>
            <a:r>
              <a:rPr b="1" sz="1275" i="0" u="none">
                <a:solidFill>
                  <a:srgbClr val="94A3B8"/>
                </a:solidFill>
                <a:latin typeface="Inter"/>
              </a:rPr>
              <a:t>~46% of code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via continuous context refinement loops.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147887"/>
            <a:ext cx="215651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3643312"/>
            <a:ext cx="16802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3919537"/>
            <a:ext cx="685948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58223" y="3919537"/>
            <a:ext cx="514498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9897" y="3919537"/>
            <a:ext cx="943123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30196" y="3919537"/>
            <a:ext cx="1200447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4895850"/>
            <a:ext cx="215651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6603" y="485775"/>
            <a:ext cx="11218589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The Hook: Hidden Production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33587"/>
            <a:ext cx="11029950" cy="685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957512"/>
            <a:ext cx="2586037" cy="2533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662" y="2957512"/>
            <a:ext cx="2586037" cy="2533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957512"/>
            <a:ext cx="2586037" cy="2533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4937" y="2957512"/>
            <a:ext cx="2586037" cy="2533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66737"/>
            <a:ext cx="259853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1050" y="2233612"/>
            <a:ext cx="10629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38BDF8"/>
                </a:solidFill>
                <a:latin typeface="monospace SemiBold"/>
              </a:rPr>
              <a:t>OBSERVE  →  DECIDE  →  ACT  →  EVALUATE  →  [Repeat / Stop]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233737"/>
            <a:ext cx="476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7250" y="3881437"/>
            <a:ext cx="213526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E2E8F0"/>
                </a:solidFill>
                <a:latin typeface="Plus Jakarta Sans SemiBold"/>
              </a:rPr>
              <a:t>Retry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4243387"/>
            <a:ext cx="2033587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Recognize poor outputs or tool errors and re-prompt automatically with context.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1887" y="3233737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71887" y="3881437"/>
            <a:ext cx="213526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E2E8F0"/>
                </a:solidFill>
                <a:latin typeface="Plus Jakarta Sans SemiBold"/>
              </a:rPr>
              <a:t>Tool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1887" y="4243387"/>
            <a:ext cx="2033587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Dynamically decide which API or tool to call next based on current findings.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525" y="3233737"/>
            <a:ext cx="476250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86525" y="3881437"/>
            <a:ext cx="213526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E2E8F0"/>
                </a:solidFill>
                <a:latin typeface="Plus Jakarta Sans SemiBold"/>
              </a:rPr>
              <a:t>Human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4243387"/>
            <a:ext cx="2033587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Pause execution for approval when confidence is low or risk is high.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1162" y="3233737"/>
            <a:ext cx="476250" cy="476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01162" y="3881437"/>
            <a:ext cx="213526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E2E8F0"/>
                </a:solidFill>
                <a:latin typeface="Plus Jakarta Sans SemiBold"/>
              </a:rPr>
              <a:t>Graceful Exit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1162" y="4243387"/>
            <a:ext cx="2033587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Stop execution safely and refuse cleanly when evidence is insufficient.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075" y="3357562"/>
            <a:ext cx="228600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4287" y="3357562"/>
            <a:ext cx="17145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1775" y="3357562"/>
            <a:ext cx="285750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24987" y="3357562"/>
            <a:ext cx="22860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5178" y="485775"/>
            <a:ext cx="1118858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What Is Loop Engineering?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66737"/>
            <a:ext cx="297953" cy="2667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243137"/>
          <a:ext cx="11010898" cy="3038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02060"/>
                <a:gridCol w="4954785"/>
                <a:gridCol w="3854053"/>
              </a:tblGrid>
              <a:tr h="607695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Loop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Execution Pattern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Real-World Example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0769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8BDF8"/>
                          </a:solidFill>
                          <a:latin typeface="Inter"/>
                        </a:rPr>
                        <a:t>Tool Loop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Act → Read result → Act again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Check payment status, retry API on 500 error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0769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818CF8"/>
                          </a:solidFill>
                          <a:latin typeface="Inter"/>
                        </a:rPr>
                        <a:t>RAG Loop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Retrieve → Answer → </a:t>
                      </a:r>
                      <a:r>
                        <a:rPr b="1" sz="1275" i="0" u="none">
                          <a:solidFill>
                            <a:srgbClr val="CBD5E1"/>
                          </a:solidFill>
                          <a:latin typeface="Inter"/>
                        </a:rPr>
                        <a:t>Verify Context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Policy search bot with citation checking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0769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4D399"/>
                          </a:solidFill>
                          <a:latin typeface="Inter"/>
                        </a:rPr>
                        <a:t>Eval Loop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Generate → Run test → Fix errors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Coding agent running unit tests until 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0769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43F5E"/>
                          </a:solidFill>
                          <a:latin typeface="Inter"/>
                        </a:rPr>
                        <a:t>Human Loop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AI draft → Human approve → Execute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Banking, legal, or medical decision gates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2800350"/>
            <a:ext cx="22020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92610" y="2800350"/>
            <a:ext cx="49547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47396" y="2800350"/>
            <a:ext cx="385405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0550" y="3600450"/>
            <a:ext cx="22020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92610" y="3600450"/>
            <a:ext cx="49547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47396" y="3600450"/>
            <a:ext cx="385405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550" y="4157662"/>
            <a:ext cx="22020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2610" y="4157662"/>
            <a:ext cx="49547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47396" y="4157662"/>
            <a:ext cx="385405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0550" y="4714875"/>
            <a:ext cx="22020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2610" y="4714875"/>
            <a:ext cx="49547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47396" y="4714875"/>
            <a:ext cx="385405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3278" y="485775"/>
            <a:ext cx="1114858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Four Core Loop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86012"/>
            <a:ext cx="5372100" cy="2114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386012"/>
            <a:ext cx="5372100" cy="2114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66737"/>
            <a:ext cx="259853" cy="266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1025" y="4643437"/>
            <a:ext cx="11029950" cy="4953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1525" y="4795837"/>
            <a:ext cx="10648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1" u="none">
                <a:solidFill>
                  <a:srgbClr val="E2E8F0"/>
                </a:solidFill>
                <a:latin typeface="Inter"/>
              </a:rPr>
              <a:t> "Teams spend weeks tweaking embedding models, then skip the 20 lines of loop logic that stop hallucinations in production." 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025" y="4643437"/>
            <a:ext cx="38100" cy="4953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4875" y="2681287"/>
            <a:ext cx="4990623" cy="266700"/>
          </a:xfrm>
          <a:prstGeom prst="rect">
            <a:avLst/>
          </a:prstGeom>
          <a:noFill/>
        </p:spPr>
        <p:txBody>
          <a:bodyPr wrap="square" lIns="148232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7171"/>
                </a:solidFill>
                <a:latin typeface="Plus Jakarta Sans SemiBold"/>
              </a:rPr>
              <a:t>Naive Linear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3090862"/>
            <a:ext cx="47529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CA5A5"/>
                </a:solidFill>
                <a:latin typeface="monospace"/>
              </a:rPr>
              <a:t>Build RAG → Answer immediately → Hope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3476625"/>
            <a:ext cx="475297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Assumes retrieved documents are always accurate and complete. Fails silently with hallucinations when context is weak.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2681287"/>
            <a:ext cx="4990623" cy="266700"/>
          </a:xfrm>
          <a:prstGeom prst="rect">
            <a:avLst/>
          </a:prstGeom>
          <a:noFill/>
        </p:spPr>
        <p:txBody>
          <a:bodyPr wrap="square" lIns="176807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4D399"/>
                </a:solidFill>
                <a:latin typeface="Plus Jakarta Sans SemiBold"/>
              </a:rPr>
              <a:t>Engineered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090862"/>
            <a:ext cx="47529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6EE7B7"/>
                </a:solidFill>
                <a:latin typeface="monospace"/>
              </a:rPr>
              <a:t>Build RAG → Answer → Verify → Retry / Refuse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476625"/>
            <a:ext cx="47529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Evaluates answer grounding against evidence. Rewrites queries or gracefully refuses if confidence is low.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2719387"/>
            <a:ext cx="148232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2719387"/>
            <a:ext cx="176807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5178" y="485775"/>
            <a:ext cx="1118858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The #1 Beginner Mistake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66737"/>
            <a:ext cx="297953" cy="2667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364581"/>
          <a:ext cx="11010898" cy="2795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303240"/>
                <a:gridCol w="4954785"/>
                <a:gridCol w="2752873"/>
              </a:tblGrid>
              <a:tr h="559117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Production Blocker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Loop Engineering Fix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Business Impact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59117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Inter"/>
                        </a:rPr>
                        <a:t>Hallucinations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Verification step + citation ground check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Prevents legal liability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59117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Inter"/>
                        </a:rPr>
                        <a:t>Wrong Tool Calls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Catch tool errors &amp; retry with error context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99%+ task completion 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59117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Inter"/>
                        </a:rPr>
                        <a:t>Runaway Costs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Strict step limiters (</a:t>
                      </a:r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max_retries=3</a:t>
                      </a:r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Predictable API spend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59119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FAFC"/>
                          </a:solidFill>
                          <a:latin typeface="Inter"/>
                        </a:rPr>
                        <a:t>Debugging Blindspots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Log every iteration state &amp; decision node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Instant root-cause analysis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2921793"/>
            <a:ext cx="33032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93790" y="2921793"/>
            <a:ext cx="49547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48576" y="2921793"/>
            <a:ext cx="27528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0550" y="3479006"/>
            <a:ext cx="33032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93790" y="3479006"/>
            <a:ext cx="49547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48576" y="3479006"/>
            <a:ext cx="27528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550" y="4036218"/>
            <a:ext cx="33032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93790" y="4036218"/>
            <a:ext cx="49547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48576" y="4036218"/>
            <a:ext cx="27528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0550" y="4593431"/>
            <a:ext cx="33032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93790" y="4593431"/>
            <a:ext cx="49547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8576" y="4593431"/>
            <a:ext cx="27528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715" y="4198143"/>
            <a:ext cx="1286172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93278" y="485775"/>
            <a:ext cx="1114858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Industry Reality Check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95512"/>
            <a:ext cx="11029950" cy="495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881312"/>
            <a:ext cx="5372100" cy="20145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881312"/>
            <a:ext cx="5372100" cy="20145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66737"/>
            <a:ext cx="297953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15407" y="5086350"/>
            <a:ext cx="3761184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8BDF8"/>
                </a:solidFill>
                <a:latin typeface="monospace"/>
              </a:rPr>
              <a:t>Terminal Run: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347912"/>
            <a:ext cx="4857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18CF8"/>
                </a:solidFill>
                <a:latin typeface="Inter"/>
              </a:rPr>
              <a:t>Query: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450" y="2347912"/>
            <a:ext cx="4724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1" u="none">
                <a:solidFill>
                  <a:srgbClr val="000000"/>
                </a:solidFill>
                <a:latin typeface="Inter"/>
              </a:rPr>
              <a:t>"How many remote days can a junior engineer work from home?"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5845" y="5086350"/>
            <a:ext cx="2400746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6300" y="3176587"/>
            <a:ext cx="502062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7171"/>
                </a:solidFill>
                <a:latin typeface="Plus Jakarta Sans SemiBold"/>
              </a:rPr>
              <a:t>Mode A — Naive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176587"/>
            <a:ext cx="502062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4D399"/>
                </a:solidFill>
                <a:latin typeface="Plus Jakarta Sans SemiBold"/>
              </a:rPr>
              <a:t>Mode B — Loop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586162"/>
            <a:ext cx="4781550" cy="242887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Single retrieval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924300"/>
            <a:ext cx="4781550" cy="242887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Forces an immediate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4262437"/>
            <a:ext cx="4781550" cy="242887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Risks citing outdated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150" y="3586162"/>
            <a:ext cx="4781550" cy="242887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Retrieve → Grade context relevance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3924300"/>
            <a:ext cx="4781550" cy="242887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Re-query if retrieved policy is weak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4150" y="4262437"/>
            <a:ext cx="4781550" cy="242887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Refuses cleanly if no valid source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3614737"/>
            <a:ext cx="104775" cy="161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3952875"/>
            <a:ext cx="10477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4291012"/>
            <a:ext cx="161925" cy="1619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3614737"/>
            <a:ext cx="104775" cy="1619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3952875"/>
            <a:ext cx="104775" cy="1619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150" y="4291012"/>
            <a:ext cx="161925" cy="1619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3278" y="485775"/>
            <a:ext cx="1114858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LIVE DEMO 1: Honest RAG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66737"/>
            <a:ext cx="259853" cy="2667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364581"/>
          <a:ext cx="11010899" cy="2795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52725"/>
                <a:gridCol w="3853755"/>
                <a:gridCol w="4404419"/>
              </a:tblGrid>
              <a:tr h="559117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Tonight's Lightweight Tool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Production Upgrade Path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59117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CBD5E1"/>
                          </a:solidFill>
                          <a:latin typeface="Inter"/>
                        </a:rPr>
                        <a:t>LLM Engine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gpt-4o-mini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gpt-4o / Claude 3.5 Sonnet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59117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CBD5E1"/>
                          </a:solidFill>
                          <a:latin typeface="Inter"/>
                        </a:rPr>
                        <a:t>Vector Database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CBD5E1"/>
                          </a:solidFill>
                          <a:latin typeface="Inter"/>
                        </a:rPr>
                        <a:t>Chroma DB</a:t>
                      </a:r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 (Local memory)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Pinecone / Qdrant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59117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CBD5E1"/>
                          </a:solidFill>
                          <a:latin typeface="Inter"/>
                        </a:rPr>
                        <a:t>Loop Controller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CBD5E1"/>
                          </a:solidFill>
                          <a:latin typeface="Inter"/>
                        </a:rPr>
                        <a:t>Python native loops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CBD5E1"/>
                          </a:solidFill>
                          <a:latin typeface="Inter"/>
                        </a:rPr>
                        <a:t>LangGraph</a:t>
                      </a:r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 / CrewAI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59119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CBD5E1"/>
                          </a:solidFill>
                          <a:latin typeface="Inter"/>
                        </a:rPr>
                        <a:t>Observability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Structured </a:t>
                      </a:r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print()</a:t>
                      </a:r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 logs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Langfuse / LangSmith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2921793"/>
            <a:ext cx="27527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43275" y="2921793"/>
            <a:ext cx="385375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97030" y="2921793"/>
            <a:ext cx="44044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0550" y="3479006"/>
            <a:ext cx="27527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43275" y="3479006"/>
            <a:ext cx="385375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97030" y="3479006"/>
            <a:ext cx="44044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550" y="4036218"/>
            <a:ext cx="27527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3275" y="4036218"/>
            <a:ext cx="385375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97030" y="4036218"/>
            <a:ext cx="44044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0550" y="4593431"/>
            <a:ext cx="27527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43275" y="4593431"/>
            <a:ext cx="385375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97030" y="4593431"/>
            <a:ext cx="44044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3775" y="3083718"/>
            <a:ext cx="1114722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1025" y="4755356"/>
            <a:ext cx="771673" cy="247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5178" y="485775"/>
            <a:ext cx="1118858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Our Tool Stack Tonight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76550"/>
            <a:ext cx="5372100" cy="177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66737"/>
            <a:ext cx="193178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219450"/>
            <a:ext cx="4686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0" sz="6000" i="0" u="none">
                <a:solidFill>
                  <a:srgbClr val="34D399"/>
                </a:solidFill>
                <a:latin typeface="Plus Jakarta Sans ExtraBold"/>
              </a:rPr>
              <a:t>$0.30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4076700"/>
            <a:ext cx="4686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8FAFC"/>
                </a:solidFill>
                <a:latin typeface="Inter SemiBold"/>
              </a:rPr>
              <a:t>Total Cost for Webinar + Rehearsals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8875" y="2712243"/>
            <a:ext cx="5372100" cy="566737"/>
          </a:xfrm>
          <a:prstGeom prst="roundRect">
            <a:avLst>
              <a:gd name="adj" fmla="val 1680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2750" y="2864643"/>
            <a:ext cx="465772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gpt-4o-mini: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~ $0.01 per full loop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8875" y="3412331"/>
            <a:ext cx="5372100" cy="566737"/>
          </a:xfrm>
          <a:prstGeom prst="roundRect">
            <a:avLst>
              <a:gd name="adj" fmla="val 1680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2750" y="3564731"/>
            <a:ext cx="465772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Max 3 Loops: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Always enforce hard limits on iteration 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8875" y="4112418"/>
            <a:ext cx="5372100" cy="566737"/>
          </a:xfrm>
          <a:prstGeom prst="roundRect">
            <a:avLst>
              <a:gd name="adj" fmla="val 1680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2750" y="4264818"/>
            <a:ext cx="465772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Core Metric: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Measure &amp; optimize "Loops-to-Success"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8875" y="3269456"/>
            <a:ext cx="53721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8875" y="3969543"/>
            <a:ext cx="53721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8875" y="4669631"/>
            <a:ext cx="53721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2888456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3588543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4288631"/>
            <a:ext cx="190500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8503" y="485775"/>
            <a:ext cx="11258594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Budget-Smart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29137" y="2419350"/>
            <a:ext cx="3133725" cy="34290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818CF8"/>
                </a:solidFill>
                <a:latin typeface="Inter"/>
              </a:rPr>
              <a:t>MID-SESSION REFRESHER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0240" y="2762250"/>
            <a:ext cx="4651518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Plus Jakarta Sans"/>
              </a:rPr>
              <a:t>5-Minute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38537" y="4181475"/>
            <a:ext cx="5114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Coming Up: Building a Self-Healing Code Agent in Live Demo 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137" y="2466975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45481"/>
            <a:ext cx="5372100" cy="1343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945481"/>
            <a:ext cx="53721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66737"/>
            <a:ext cx="259853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50" y="2221706"/>
            <a:ext cx="5060632" cy="266700"/>
          </a:xfrm>
          <a:prstGeom prst="rect">
            <a:avLst/>
          </a:prstGeom>
          <a:noFill/>
        </p:spPr>
        <p:txBody>
          <a:bodyPr wrap="square" lIns="205382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lus Jakarta Sans SemiBold"/>
              </a:rPr>
              <a:t>Self-Healing Code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2583656"/>
            <a:ext cx="48196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monospace"/>
              </a:rPr>
              <a:t>Read Error → Patch Code → Run Pytest → Pass? Stop : Retry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955006"/>
            <a:ext cx="5353050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259806"/>
            <a:ext cx="205382" cy="2095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81025" y="3479006"/>
            <a:ext cx="5372100" cy="566737"/>
          </a:xfrm>
          <a:prstGeom prst="roundRect">
            <a:avLst>
              <a:gd name="adj" fmla="val 1680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900" y="3631406"/>
            <a:ext cx="465772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Initial State: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Broken calculator ( subtracts)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4179093"/>
            <a:ext cx="5372100" cy="566737"/>
          </a:xfrm>
          <a:prstGeom prst="roundRect">
            <a:avLst>
              <a:gd name="adj" fmla="val 1680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900" y="4331493"/>
            <a:ext cx="465772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Agent Task: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Fix code until all tests 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" y="4879181"/>
            <a:ext cx="5372100" cy="566737"/>
          </a:xfrm>
          <a:prstGeom prst="roundRect">
            <a:avLst>
              <a:gd name="adj" fmla="val 1680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4900" y="5031581"/>
            <a:ext cx="465772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Run: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4036218"/>
            <a:ext cx="53721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4725" y="3640931"/>
            <a:ext cx="600223" cy="24765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81025" y="4736306"/>
            <a:ext cx="53721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1025" y="5436393"/>
            <a:ext cx="53721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4950" y="5041106"/>
            <a:ext cx="2743646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050" y="3655218"/>
            <a:ext cx="19050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050" y="4355306"/>
            <a:ext cx="238125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050" y="5055393"/>
            <a:ext cx="219075" cy="2000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55178" y="485775"/>
            <a:ext cx="1118858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LIVE DEMO 2: Break It Till It Works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66737"/>
            <a:ext cx="326528" cy="2667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364581"/>
          <a:ext cx="11010900" cy="2795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52725"/>
                <a:gridCol w="8258175"/>
              </a:tblGrid>
              <a:tr h="559117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Industry Domain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Loop Pattern in Plain English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59117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8BDF8"/>
                          </a:solidFill>
                          <a:latin typeface="Inter"/>
                        </a:rPr>
                        <a:t>Customer Support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Draft reply → Evaluate sentiment → Escalate if angry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59117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818CF8"/>
                          </a:solidFill>
                          <a:latin typeface="Inter"/>
                        </a:rPr>
                        <a:t>Software Dev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Write code → Run unit tests → Review diff → Merge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59117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4D399"/>
                          </a:solidFill>
                          <a:latin typeface="Inter"/>
                        </a:rPr>
                        <a:t>Deep Research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Search web → Read sources → Identify gaps → Search again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59119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43F5E"/>
                          </a:solidFill>
                          <a:latin typeface="Inter"/>
                        </a:rPr>
                        <a:t>Fintech &amp; Banking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Inter"/>
                        </a:rPr>
                        <a:t>Extract data → Check compliance rules → Flag human if over limit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2921793"/>
            <a:ext cx="27527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43275" y="2921793"/>
            <a:ext cx="82581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0550" y="3479006"/>
            <a:ext cx="27527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43275" y="3479006"/>
            <a:ext cx="82581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0550" y="4036218"/>
            <a:ext cx="27527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3275" y="4036218"/>
            <a:ext cx="82581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550" y="4593431"/>
            <a:ext cx="27527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3275" y="4593431"/>
            <a:ext cx="82581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1853" y="485775"/>
            <a:ext cx="11118577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Patterns Across Industries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712815"/>
            <a:ext cx="5324475" cy="1162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3278" y="485775"/>
            <a:ext cx="5157832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Cursor Bonus: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66737"/>
            <a:ext cx="297953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1580" y="576262"/>
            <a:ext cx="565993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2649884"/>
            <a:ext cx="559069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E2E8F0"/>
                </a:solidFill>
                <a:latin typeface="Plus Jakarta Sans SemiBold"/>
              </a:rPr>
              <a:t>Recurring Agent Loops in Editors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011834"/>
            <a:ext cx="5324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Modern AI IDEs like Cursor extend loop engineering beyond Python scripts into background tasks.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989040"/>
            <a:ext cx="47720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8BDF8"/>
                </a:solidFill>
                <a:latin typeface="monospace"/>
              </a:rPr>
              <a:t>/loop 5m check if deploy finished and summarize build errors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07443"/>
            <a:ext cx="5372100" cy="20716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07443"/>
            <a:ext cx="5372100" cy="20716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66737"/>
            <a:ext cx="259853" cy="266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1025" y="4622006"/>
            <a:ext cx="11029950" cy="4953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1525" y="4774406"/>
            <a:ext cx="10648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1" u="none">
                <a:solidFill>
                  <a:srgbClr val="E2E8F0"/>
                </a:solidFill>
                <a:latin typeface="Inter"/>
              </a:rPr>
              <a:t> "Prompting is the spark. Loop engineering is the engine." 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025" y="4622006"/>
            <a:ext cx="38100" cy="4953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2702718"/>
            <a:ext cx="502062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94A3B8"/>
                </a:solidFill>
                <a:latin typeface="Plus Jakarta Sans SemiBold"/>
              </a:rPr>
              <a:t>"Just Prompting"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702718"/>
            <a:ext cx="502062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818CF8"/>
                </a:solidFill>
                <a:latin typeface="Plus Jakarta Sans SemiBold"/>
              </a:rPr>
              <a:t>Loop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112293"/>
            <a:ext cx="4781550" cy="242887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One-shot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469481"/>
            <a:ext cx="4781550" cy="242887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Hope for a correct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826668"/>
            <a:ext cx="4781550" cy="242887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Debug by re-wording prompts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3112293"/>
            <a:ext cx="4781550" cy="242887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8FAFC"/>
                </a:solidFill>
                <a:latin typeface="Inter"/>
              </a:rPr>
              <a:t>Iterative control flow with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0" y="3469481"/>
            <a:ext cx="4781550" cy="242887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8FAFC"/>
                </a:solidFill>
                <a:latin typeface="Inter"/>
              </a:rPr>
              <a:t>Verify evidence before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150" y="3826668"/>
            <a:ext cx="4781550" cy="242887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8FAFC"/>
                </a:solidFill>
                <a:latin typeface="Inter"/>
              </a:rPr>
              <a:t>Production-ready reliability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3140868"/>
            <a:ext cx="161925" cy="161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3498056"/>
            <a:ext cx="161925" cy="1619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3855243"/>
            <a:ext cx="161925" cy="161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3140868"/>
            <a:ext cx="16192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3498056"/>
            <a:ext cx="161925" cy="1619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3855243"/>
            <a:ext cx="161925" cy="1619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55178" y="485775"/>
            <a:ext cx="1118858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Prompting vs Loop Engineering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66737"/>
            <a:ext cx="259853" cy="2667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81025" y="2012156"/>
            <a:ext cx="11029950" cy="566737"/>
          </a:xfrm>
          <a:prstGeom prst="roundRect">
            <a:avLst>
              <a:gd name="adj" fmla="val 1680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4900" y="2164556"/>
            <a:ext cx="1031557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Define Stop Conditions: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Set max steps () and timeout caps.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2712243"/>
            <a:ext cx="11029950" cy="566737"/>
          </a:xfrm>
          <a:prstGeom prst="roundRect">
            <a:avLst>
              <a:gd name="adj" fmla="val 1680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900" y="2864643"/>
            <a:ext cx="1031557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Add Evaluation Steps: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Verify grounding, run unit tests, or validate JSON schema.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025" y="3412331"/>
            <a:ext cx="11029950" cy="566737"/>
          </a:xfrm>
          <a:prstGeom prst="roundRect">
            <a:avLst>
              <a:gd name="adj" fmla="val 1680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" y="3564731"/>
            <a:ext cx="1031557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Log Every Iteration: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Record step numbers, LLM costs, and decision trees.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1025" y="4112418"/>
            <a:ext cx="11029950" cy="566737"/>
          </a:xfrm>
          <a:prstGeom prst="roundRect">
            <a:avLst>
              <a:gd name="adj" fmla="val 1680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900" y="4264818"/>
            <a:ext cx="1031557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Implement Fallbacks: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Escalate to humans or offer clean refusals when stuck.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4812506"/>
            <a:ext cx="11029950" cy="566737"/>
          </a:xfrm>
          <a:prstGeom prst="roundRect">
            <a:avLst>
              <a:gd name="adj" fmla="val 1680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900" y="4964906"/>
            <a:ext cx="10315575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Optimize Core Metric: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Measure and minimize "Loops-to-Success".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2569368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1475" y="2174081"/>
            <a:ext cx="1286172" cy="2476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81025" y="3269456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3969543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1025" y="4669631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1025" y="5369718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188368"/>
            <a:ext cx="9525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2888456"/>
            <a:ext cx="123825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3588543"/>
            <a:ext cx="123825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4288631"/>
            <a:ext cx="142875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4988718"/>
            <a:ext cx="123825" cy="2000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55178" y="485775"/>
            <a:ext cx="1118858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Your Loop Engineering Checklist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687" y="2171700"/>
            <a:ext cx="5000625" cy="447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76" y="485775"/>
            <a:ext cx="11581447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8FAFC"/>
                </a:solidFill>
                <a:latin typeface="Plus Jakarta Sans"/>
              </a:rP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1543050"/>
            <a:ext cx="11029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818CF8"/>
                </a:solidFill>
                <a:latin typeface="Inter"/>
              </a:rPr>
              <a:t>Let's discuss LangGraph, ReAct loops, and your projects!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962" y="2314575"/>
            <a:ext cx="16192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66875" y="2995612"/>
            <a:ext cx="8858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66875" y="3757612"/>
            <a:ext cx="8858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66875" y="3757612"/>
            <a:ext cx="8858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5" y="313848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62250" y="3145631"/>
            <a:ext cx="77628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https://byteiota.com/wp-content/uploads/2026/07/featured-image-449-800x400.jpg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2250" y="3378993"/>
            <a:ext cx="776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byteiota.com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875" y="3910012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62250" y="3917156"/>
            <a:ext cx="77628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https://voices.berkeley.edu/sites/default/files/styles/header_person/public/2026-04/software-dev-ai-920x560.png?itok=Hs5i-V9o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2250" y="4150518"/>
            <a:ext cx="776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voices.berkeley.edu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