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72" r:id="rId2"/>
    <p:sldId id="273" r:id="rId3"/>
    <p:sldId id="258" r:id="rId4"/>
    <p:sldId id="259" r:id="rId5"/>
    <p:sldId id="260" r:id="rId6"/>
    <p:sldId id="261" r:id="rId7"/>
    <p:sldId id="262" r:id="rId8"/>
    <p:sldId id="274" r:id="rId9"/>
    <p:sldId id="263" r:id="rId10"/>
    <p:sldId id="275" r:id="rId11"/>
    <p:sldId id="264" r:id="rId12"/>
    <p:sldId id="265" r:id="rId13"/>
    <p:sldId id="276" r:id="rId14"/>
    <p:sldId id="270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AC31"/>
    <a:srgbClr val="5E6E82"/>
    <a:srgbClr val="EED89A"/>
    <a:srgbClr val="FAD394"/>
    <a:srgbClr val="F7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AFA99F-FCA9-453E-AFA9-369AAF2F4BA3}">
  <a:tblStyle styleId="{6CAFA99F-FCA9-453E-AFA9-369AAF2F4BA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503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1233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0670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2.png"/><Relationship Id="rId5" Type="http://schemas.openxmlformats.org/officeDocument/2006/relationships/image" Target="../media/image12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8744" y="618172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340100" y="6494277"/>
            <a:ext cx="228302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5E6E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DAY 1 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10598794" y="6215062"/>
            <a:ext cx="101218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116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500" b="1" i="0" u="none" strike="noStrike" cap="none" dirty="0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430685" y="493337"/>
            <a:ext cx="7280441" cy="236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dirty="0" err="1" smtClean="0">
                <a:latin typeface="Times" panose="02020603050405020304" pitchFamily="18" charset="0"/>
                <a:cs typeface="Times" panose="02020603050405020304" pitchFamily="18" charset="0"/>
              </a:rPr>
              <a:t>LangGraph</a:t>
            </a:r>
            <a:r>
              <a:rPr lang="en-US" sz="4350" b="1" dirty="0" smtClean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4350" b="1" dirty="0" err="1" smtClean="0">
                <a:latin typeface="Times" panose="02020603050405020304" pitchFamily="18" charset="0"/>
                <a:cs typeface="Times" panose="02020603050405020304" pitchFamily="18" charset="0"/>
              </a:rPr>
              <a:t>Fundementals</a:t>
            </a:r>
            <a:endParaRPr lang="en-US" sz="435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marR="0" lvl="0" indent="0" algn="l" rtl="0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marR="0" lvl="0" indent="0" algn="l" rtl="0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marR="0" lvl="0" indent="0" algn="l" rtl="0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Times" panose="02020603050405020304" pitchFamily="18" charset="0"/>
                <a:cs typeface="Times" panose="02020603050405020304" pitchFamily="18" charset="0"/>
              </a:rPr>
              <a:t>AI Season Bootcamp – </a:t>
            </a:r>
            <a:r>
              <a:rPr lang="en-US" sz="3000" i="1" dirty="0">
                <a:solidFill>
                  <a:srgbClr val="F5A623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Session </a:t>
            </a:r>
            <a:r>
              <a:rPr lang="en-US" sz="3000" i="1" dirty="0" smtClean="0">
                <a:solidFill>
                  <a:srgbClr val="F5A623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7</a:t>
            </a:r>
            <a:endParaRPr lang="en-US" sz="3000" i="1" dirty="0">
              <a:solidFill>
                <a:srgbClr val="F5A623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30685" y="2936135"/>
            <a:ext cx="660171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rgbClr val="5E6E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An open-source teaching repo at the boundary of LLM application design and production engineering.</a:t>
            </a:r>
          </a:p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rgbClr val="5E6E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solidFill>
                  <a:srgbClr val="5E6E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00" dirty="0">
                <a:solidFill>
                  <a:srgbClr val="5E6E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github.com/MuhammadMustafa18/</a:t>
            </a:r>
            <a:r>
              <a:rPr lang="en-US" sz="1600" dirty="0" err="1">
                <a:solidFill>
                  <a:srgbClr val="5E6E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WhatsAppLangraphAgent</a:t>
            </a:r>
            <a:endParaRPr lang="en-US" sz="1600"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546326" y="4698059"/>
            <a:ext cx="316897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smtClean="0">
                <a:solidFill>
                  <a:srgbClr val="1116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Muhammad Mustafa</a:t>
            </a:r>
            <a:endParaRPr lang="en-US" sz="2400"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546326" y="5151245"/>
            <a:ext cx="242515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 smtClean="0">
                <a:solidFill>
                  <a:srgbClr val="5E6E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 at </a:t>
            </a:r>
            <a:r>
              <a:rPr lang="en-US" sz="1800" b="0" i="1" u="none" strike="noStrike" cap="none" dirty="0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800" b="0" i="1" u="none" strike="noStrike" cap="none" dirty="0">
                <a:solidFill>
                  <a:srgbClr val="5E6E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Season</a:t>
            </a:r>
            <a:endParaRPr sz="1800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526" y="1451806"/>
            <a:ext cx="5110474" cy="42865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71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68694" y="2439293"/>
            <a:ext cx="205353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25055" y="2439293"/>
            <a:ext cx="205353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71148" y="2425511"/>
            <a:ext cx="2053679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7390" y="2433131"/>
            <a:ext cx="205353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01603" y="2412622"/>
            <a:ext cx="2053679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98744" y="618172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6029325"/>
            <a:ext cx="110299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581025" y="6248400"/>
            <a:ext cx="2620119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5E6E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</a:t>
            </a:r>
            <a:r>
              <a:rPr lang="en-US" sz="1050" dirty="0">
                <a:solidFill>
                  <a:srgbClr val="5E6E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10598794" y="6215062"/>
            <a:ext cx="101218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16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50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581025" y="2781300"/>
            <a:ext cx="205353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 / Foundation</a:t>
            </a:r>
            <a:endParaRPr dirty="0"/>
          </a:p>
        </p:txBody>
      </p:sp>
      <p:sp>
        <p:nvSpPr>
          <p:cNvPr id="114" name="Google Shape;114;p14"/>
          <p:cNvSpPr txBox="1"/>
          <p:nvPr/>
        </p:nvSpPr>
        <p:spPr>
          <a:xfrm>
            <a:off x="581024" y="3641347"/>
            <a:ext cx="224387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" panose="02020603050405020304" pitchFamily="18" charset="0"/>
                <a:cs typeface="Times" panose="02020603050405020304" pitchFamily="18" charset="0"/>
              </a:rPr>
              <a:t>What is </a:t>
            </a:r>
            <a:r>
              <a:rPr lang="en-US" sz="1200" dirty="0" err="1">
                <a:latin typeface="Times" panose="02020603050405020304" pitchFamily="18" charset="0"/>
                <a:cs typeface="Times" panose="02020603050405020304" pitchFamily="18" charset="0"/>
              </a:rPr>
              <a:t>LangGraph</a:t>
            </a:r>
            <a:r>
              <a:rPr lang="en-US" sz="1200" dirty="0" smtClean="0">
                <a:latin typeface="Times" panose="02020603050405020304" pitchFamily="18" charset="0"/>
                <a:cs typeface="Times" panose="02020603050405020304" pitchFamily="18" charset="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" panose="02020603050405020304" pitchFamily="18" charset="0"/>
                <a:cs typeface="Times" panose="02020603050405020304" pitchFamily="18" charset="0"/>
              </a:rPr>
              <a:t>Why state machines </a:t>
            </a:r>
            <a:r>
              <a:rPr lang="en-US" sz="1200" dirty="0" smtClean="0">
                <a:latin typeface="Times" panose="02020603050405020304" pitchFamily="18" charset="0"/>
                <a:cs typeface="Times" panose="02020603050405020304" pitchFamily="18" charset="0"/>
              </a:rPr>
              <a:t>for</a:t>
            </a:r>
          </a:p>
          <a:p>
            <a:r>
              <a:rPr lang="en-US" sz="12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1200" dirty="0" smtClean="0">
                <a:latin typeface="Times" panose="02020603050405020304" pitchFamily="18" charset="0"/>
                <a:cs typeface="Times" panose="02020603050405020304" pitchFamily="18" charset="0"/>
              </a:rPr>
              <a:t>       LLM </a:t>
            </a:r>
            <a:r>
              <a:rPr lang="en-US" sz="1200" dirty="0">
                <a:latin typeface="Times" panose="02020603050405020304" pitchFamily="18" charset="0"/>
                <a:cs typeface="Times" panose="02020603050405020304" pitchFamily="18" charset="0"/>
              </a:rPr>
              <a:t>apps?</a:t>
            </a:r>
            <a:endParaRPr lang="en-US" sz="1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1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2825055" y="2781300"/>
            <a:ext cx="205353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125" b="1" dirty="0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Iterations 1–3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2825055" y="3641347"/>
            <a:ext cx="20535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" panose="02020603050405020304" pitchFamily="18" charset="0"/>
                <a:cs typeface="Times" panose="02020603050405020304" pitchFamily="18" charset="0"/>
              </a:rPr>
              <a:t> Echo graph → LLM call → conditional </a:t>
            </a:r>
            <a:r>
              <a:rPr lang="en-US" sz="1200" dirty="0" smtClean="0">
                <a:latin typeface="Times" panose="02020603050405020304" pitchFamily="18" charset="0"/>
                <a:cs typeface="Times" panose="02020603050405020304" pitchFamily="18" charset="0"/>
              </a:rPr>
              <a:t>routing</a:t>
            </a:r>
            <a:endParaRPr lang="en-US" sz="11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5069085" y="2781300"/>
            <a:ext cx="2053679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125" b="1" dirty="0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Iteration 4</a:t>
            </a:r>
            <a:endParaRPr lang="en-US" sz="1125" b="1" i="0" u="none" strike="noStrike" cap="none" dirty="0">
              <a:solidFill>
                <a:srgbClr val="F5A6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5069014" y="3667125"/>
            <a:ext cx="205367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00" dirty="0" smtClean="0">
                <a:latin typeface="Times" panose="02020603050405020304" pitchFamily="18" charset="0"/>
                <a:cs typeface="Times" panose="02020603050405020304" pitchFamily="18" charset="0"/>
              </a:rPr>
              <a:t>Per-persona </a:t>
            </a:r>
            <a:r>
              <a:rPr lang="it-IT" sz="1200" dirty="0">
                <a:latin typeface="Times" panose="02020603050405020304" pitchFamily="18" charset="0"/>
                <a:cs typeface="Times" panose="02020603050405020304" pitchFamily="18" charset="0"/>
              </a:rPr>
              <a:t>system prompts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00" dirty="0" smtClean="0">
                <a:latin typeface="Times" panose="02020603050405020304" pitchFamily="18" charset="0"/>
                <a:cs typeface="Times" panose="02020603050405020304" pitchFamily="18" charset="0"/>
              </a:rPr>
              <a:t>Slash-prefix </a:t>
            </a:r>
            <a:r>
              <a:rPr lang="it-IT" sz="1200" dirty="0">
                <a:latin typeface="Times" panose="02020603050405020304" pitchFamily="18" charset="0"/>
                <a:cs typeface="Times" panose="02020603050405020304" pitchFamily="18" charset="0"/>
              </a:rPr>
              <a:t>dispatch</a:t>
            </a:r>
            <a:endParaRPr lang="it-IT" sz="1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7313265" y="2781300"/>
            <a:ext cx="205353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125" b="1" dirty="0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Iteration 5</a:t>
            </a:r>
            <a:endParaRPr dirty="0"/>
          </a:p>
        </p:txBody>
      </p:sp>
      <p:sp>
        <p:nvSpPr>
          <p:cNvPr id="123" name="Google Shape;123;p14"/>
          <p:cNvSpPr txBox="1"/>
          <p:nvPr/>
        </p:nvSpPr>
        <p:spPr>
          <a:xfrm>
            <a:off x="7313101" y="3667125"/>
            <a:ext cx="205353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1200" dirty="0" err="1">
                <a:latin typeface="Times" panose="02020603050405020304" pitchFamily="18" charset="0"/>
                <a:cs typeface="Times" panose="02020603050405020304" pitchFamily="18" charset="0"/>
              </a:rPr>
              <a:t>SqliteSaver</a:t>
            </a:r>
            <a:r>
              <a:rPr lang="en-US" sz="12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1200" dirty="0" err="1">
                <a:latin typeface="Times" panose="02020603050405020304" pitchFamily="18" charset="0"/>
                <a:cs typeface="Times" panose="02020603050405020304" pitchFamily="18" charset="0"/>
              </a:rPr>
              <a:t>checkpointer</a:t>
            </a:r>
            <a:endParaRPr lang="en-US" sz="1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1200" dirty="0" err="1" smtClean="0">
                <a:latin typeface="Times" panose="02020603050405020304" pitchFamily="18" charset="0"/>
                <a:cs typeface="Times" panose="02020603050405020304" pitchFamily="18" charset="0"/>
              </a:rPr>
              <a:t>thread_id</a:t>
            </a:r>
            <a:r>
              <a:rPr lang="en-US" sz="1200" dirty="0" smtClean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1200" dirty="0">
                <a:latin typeface="Times" panose="02020603050405020304" pitchFamily="18" charset="0"/>
                <a:cs typeface="Times" panose="02020603050405020304" pitchFamily="18" charset="0"/>
              </a:rPr>
              <a:t>= </a:t>
            </a:r>
            <a:r>
              <a:rPr lang="en-US" sz="1200" dirty="0" err="1">
                <a:latin typeface="Times" panose="02020603050405020304" pitchFamily="18" charset="0"/>
                <a:cs typeface="Times" panose="02020603050405020304" pitchFamily="18" charset="0"/>
              </a:rPr>
              <a:t>chat_id</a:t>
            </a:r>
            <a:endParaRPr lang="en-US" sz="1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9557295" y="2781300"/>
            <a:ext cx="2053679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smtClean="0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Iteration 6</a:t>
            </a:r>
            <a:endParaRPr dirty="0"/>
          </a:p>
        </p:txBody>
      </p:sp>
      <p:sp>
        <p:nvSpPr>
          <p:cNvPr id="126" name="Google Shape;126;p14"/>
          <p:cNvSpPr txBox="1"/>
          <p:nvPr/>
        </p:nvSpPr>
        <p:spPr>
          <a:xfrm>
            <a:off x="9556975" y="3641347"/>
            <a:ext cx="205367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" panose="02020603050405020304" pitchFamily="18" charset="0"/>
                <a:cs typeface="Times" panose="02020603050405020304" pitchFamily="18" charset="0"/>
              </a:rPr>
              <a:t>Iter</a:t>
            </a:r>
            <a:r>
              <a:rPr lang="en-US" sz="1200" dirty="0" smtClean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1200" dirty="0">
                <a:latin typeface="Times" panose="02020603050405020304" pitchFamily="18" charset="0"/>
                <a:cs typeface="Times" panose="02020603050405020304" pitchFamily="18" charset="0"/>
              </a:rPr>
              <a:t>6 streaming · </a:t>
            </a:r>
            <a:r>
              <a:rPr lang="en-US" sz="1200" dirty="0" err="1">
                <a:latin typeface="Times" panose="02020603050405020304" pitchFamily="18" charset="0"/>
                <a:cs typeface="Times" panose="02020603050405020304" pitchFamily="18" charset="0"/>
              </a:rPr>
              <a:t>Iter</a:t>
            </a:r>
            <a:r>
              <a:rPr lang="en-US" sz="1200" dirty="0">
                <a:latin typeface="Times" panose="02020603050405020304" pitchFamily="18" charset="0"/>
                <a:cs typeface="Times" panose="02020603050405020304" pitchFamily="18" charset="0"/>
              </a:rPr>
              <a:t> 7 HITL · </a:t>
            </a:r>
            <a:r>
              <a:rPr lang="en-US" sz="1200" dirty="0" err="1">
                <a:latin typeface="Times" panose="02020603050405020304" pitchFamily="18" charset="0"/>
                <a:cs typeface="Times" panose="02020603050405020304" pitchFamily="18" charset="0"/>
              </a:rPr>
              <a:t>Iter</a:t>
            </a:r>
            <a:r>
              <a:rPr lang="en-US" sz="1200" dirty="0">
                <a:latin typeface="Times" panose="02020603050405020304" pitchFamily="18" charset="0"/>
                <a:cs typeface="Times" panose="02020603050405020304" pitchFamily="18" charset="0"/>
              </a:rPr>
              <a:t> 8 multi-agent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" panose="02020603050405020304" pitchFamily="18" charset="0"/>
                <a:cs typeface="Times" panose="02020603050405020304" pitchFamily="18" charset="0"/>
              </a:rPr>
              <a:t>Then</a:t>
            </a:r>
            <a:r>
              <a:rPr lang="en-US" sz="1200" dirty="0">
                <a:latin typeface="Times" panose="02020603050405020304" pitchFamily="18" charset="0"/>
                <a:cs typeface="Times" panose="02020603050405020304" pitchFamily="18" charset="0"/>
              </a:rPr>
              <a:t>: the production refactor (Phase 1–35)</a:t>
            </a:r>
            <a:endParaRPr lang="en-US" sz="1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27" name="Google Shape;12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30861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825055" y="3086100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069085" y="3086100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313265" y="3086100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557295" y="3086100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581024" y="485775"/>
            <a:ext cx="360123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 dirty="0">
                <a:solidFill>
                  <a:srgbClr val="111625"/>
                </a:solidFill>
                <a:latin typeface="Times"/>
                <a:ea typeface="Times"/>
                <a:cs typeface="Times"/>
                <a:sym typeface="Times"/>
              </a:rPr>
              <a:t>Session </a:t>
            </a:r>
            <a:r>
              <a:rPr lang="en-US" sz="3800" b="1" i="1" u="none" strike="noStrike" cap="none" dirty="0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sz="3800" b="1" dirty="0"/>
          </a:p>
        </p:txBody>
      </p:sp>
      <p:sp>
        <p:nvSpPr>
          <p:cNvPr id="133" name="Google Shape;133;p14"/>
          <p:cNvSpPr/>
          <p:nvPr/>
        </p:nvSpPr>
        <p:spPr>
          <a:xfrm flipV="1">
            <a:off x="581024" y="1081028"/>
            <a:ext cx="3211487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103;p14" descr="image.png">
            <a:extLst>
              <a:ext uri="{FF2B5EF4-FFF2-40B4-BE49-F238E27FC236}">
                <a16:creationId xmlns:a16="http://schemas.microsoft.com/office/drawing/2014/main" id="{AA2EC03E-EF1D-4360-8073-7DA8844263B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93876" y="2444166"/>
            <a:ext cx="2061405" cy="2273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723900" y="6210300"/>
            <a:ext cx="231159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AI SEASON • </a:t>
            </a:r>
            <a:r>
              <a:rPr lang="en-US" sz="1050" b="0" i="0" u="none" strike="noStrike" cap="none" dirty="0" err="1" smtClean="0">
                <a:solidFill>
                  <a:srgbClr val="64748B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Langgraph</a:t>
            </a:r>
            <a:r>
              <a:rPr lang="en-US" sz="1050" b="0" i="0" u="none" strike="noStrike" cap="none" dirty="0" smtClean="0">
                <a:solidFill>
                  <a:srgbClr val="64748B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 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FOUNDATIONS</a:t>
            </a:r>
            <a:endParaRPr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10553253" y="6186487"/>
            <a:ext cx="914846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SEASON</a:t>
            </a:r>
            <a:endParaRPr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703580" y="1619557"/>
            <a:ext cx="617474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00" b="1" dirty="0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A graph runtime for </a:t>
            </a:r>
            <a:r>
              <a:rPr lang="en-US" sz="2800" b="1" dirty="0" err="1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stateful</a:t>
            </a:r>
            <a:r>
              <a:rPr lang="en-US" sz="2800" b="1" dirty="0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 LLM applications</a:t>
            </a:r>
            <a:endParaRPr sz="2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723900" y="2627114"/>
            <a:ext cx="51816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dirty="0" err="1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LangGraph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is focused on the underlying capabilities important for agent </a:t>
            </a:r>
            <a:r>
              <a:rPr lang="en-US" sz="2000" dirty="0" err="1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orchestration:durable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execution, streaming, human-in-the-loop, and more.</a:t>
            </a:r>
            <a:endParaRPr sz="20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723900" y="533400"/>
            <a:ext cx="48387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>
                <a:solidFill>
                  <a:srgbClr val="0F172A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What is </a:t>
            </a:r>
            <a:r>
              <a:rPr lang="en-US" sz="3800" b="1" dirty="0" err="1" smtClean="0">
                <a:solidFill>
                  <a:srgbClr val="0F172A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LangGraph</a:t>
            </a:r>
            <a:r>
              <a:rPr lang="en-US" sz="3800" b="1" dirty="0" smtClean="0">
                <a:solidFill>
                  <a:srgbClr val="0F172A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?</a:t>
            </a:r>
            <a:endParaRPr sz="38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723900" y="1069856"/>
            <a:ext cx="4122420" cy="483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5844" y="1069856"/>
            <a:ext cx="5939883" cy="4845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 txBox="1"/>
          <p:nvPr/>
        </p:nvSpPr>
        <p:spPr>
          <a:xfrm>
            <a:off x="649255" y="6170645"/>
            <a:ext cx="3059608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 smtClean="0">
                <a:solidFill>
                  <a:srgbClr val="64748B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Whatsapp</a:t>
            </a:r>
            <a:r>
              <a:rPr lang="en-US" sz="1050" b="0" i="0" u="none" strike="noStrike" cap="none" dirty="0" smtClean="0">
                <a:solidFill>
                  <a:srgbClr val="64748B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 Gateway</a:t>
            </a:r>
            <a:endParaRPr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10553253" y="6186487"/>
            <a:ext cx="914846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SEASON</a:t>
            </a:r>
            <a:endParaRPr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723899" y="1801683"/>
            <a:ext cx="652878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 err="1" smtClean="0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Whatsapp</a:t>
            </a:r>
            <a:r>
              <a:rPr lang="en-US" sz="2200" b="1" i="0" u="none" strike="noStrike" cap="none" dirty="0" smtClean="0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 Gateway - </a:t>
            </a:r>
            <a:r>
              <a:rPr lang="en-US" sz="2200" b="1" i="0" u="none" strike="noStrike" cap="none" dirty="0" err="1" smtClean="0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OpenWA</a:t>
            </a:r>
            <a:endParaRPr sz="2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723900" y="533400"/>
            <a:ext cx="494942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 dirty="0" smtClean="0">
                <a:solidFill>
                  <a:srgbClr val="0F172A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Project Specifics</a:t>
            </a:r>
            <a:endParaRPr sz="38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723899" y="1077819"/>
            <a:ext cx="4091433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5332" y="1361646"/>
            <a:ext cx="7154379" cy="3921781"/>
          </a:xfrm>
          <a:prstGeom prst="rect">
            <a:avLst/>
          </a:prstGeom>
        </p:spPr>
      </p:pic>
      <p:sp>
        <p:nvSpPr>
          <p:cNvPr id="49" name="Google Shape;150;p15"/>
          <p:cNvSpPr txBox="1"/>
          <p:nvPr/>
        </p:nvSpPr>
        <p:spPr>
          <a:xfrm>
            <a:off x="723900" y="2627113"/>
            <a:ext cx="4091432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800" b="1" dirty="0" err="1">
                <a:latin typeface="Times" panose="02020603050405020304" pitchFamily="18" charset="0"/>
                <a:cs typeface="Times" panose="02020603050405020304" pitchFamily="18" charset="0"/>
              </a:rPr>
              <a:t>OpenWA</a:t>
            </a:r>
            <a:r>
              <a:rPr lang="en-US" sz="1800" dirty="0">
                <a:latin typeface="Times" panose="02020603050405020304" pitchFamily="18" charset="0"/>
                <a:cs typeface="Times" panose="02020603050405020304" pitchFamily="18" charset="0"/>
              </a:rPr>
              <a:t> is a free, open-source WhatsApp API Gateway designed for developers who need full control over their messaging infrastructure—without vendor lock-in or hidden paywalls</a:t>
            </a:r>
            <a:r>
              <a:rPr lang="en-US" sz="1800" dirty="0" smtClean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lvl="0"/>
            <a:endParaRPr lang="en-US" sz="18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0"/>
            <a:r>
              <a:rPr lang="en-US" sz="18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https://github.com/rmyndharis/OpenWA</a:t>
            </a:r>
            <a:endParaRPr sz="18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1583607"/>
            <a:ext cx="5229225" cy="3856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7443" y="1583607"/>
            <a:ext cx="5229225" cy="3856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7"/>
          <p:cNvSpPr txBox="1"/>
          <p:nvPr/>
        </p:nvSpPr>
        <p:spPr>
          <a:xfrm>
            <a:off x="723900" y="6210300"/>
            <a:ext cx="2249834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050" dirty="0">
                <a:solidFill>
                  <a:srgbClr val="64748B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AI SEASON • NGROK AND WEBHOOKS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10553253" y="6186487"/>
            <a:ext cx="914846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SEASON</a:t>
            </a:r>
            <a:endParaRPr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1002507" y="1583607"/>
            <a:ext cx="495061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5A623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What are </a:t>
            </a:r>
            <a:r>
              <a:rPr lang="en-US" sz="3000" b="1" i="0" u="none" strike="noStrike" cap="none" dirty="0" err="1" smtClean="0">
                <a:solidFill>
                  <a:srgbClr val="F5A623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Webhooks</a:t>
            </a:r>
            <a:r>
              <a:rPr lang="en-US" sz="3000" b="1" i="0" u="none" strike="noStrike" cap="none" dirty="0" smtClean="0">
                <a:solidFill>
                  <a:srgbClr val="F5A623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?</a:t>
            </a:r>
            <a:endParaRPr sz="3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>
            <a:off x="918844" y="2153750"/>
            <a:ext cx="47148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600" dirty="0">
                <a:solidFill>
                  <a:srgbClr val="475569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In simple terms, a </a:t>
            </a:r>
            <a:r>
              <a:rPr lang="en-US" sz="1600" dirty="0" err="1">
                <a:solidFill>
                  <a:srgbClr val="475569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webhook</a:t>
            </a:r>
            <a:r>
              <a:rPr lang="en-US" sz="1600" dirty="0">
                <a:solidFill>
                  <a:srgbClr val="475569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 is an automated notification sent from one application to another when something specific happens.</a:t>
            </a:r>
            <a:endParaRPr sz="16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6496050" y="1711718"/>
            <a:ext cx="49506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What is </a:t>
            </a:r>
            <a:r>
              <a:rPr lang="en-US" sz="2400" b="1" i="0" u="none" strike="noStrike" cap="none" dirty="0" err="1" smtClean="0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Ngrok</a:t>
            </a:r>
            <a:r>
              <a:rPr lang="en-US" sz="2400" b="1" i="0" u="none" strike="noStrike" cap="none" dirty="0" smtClean="0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?</a:t>
            </a:r>
            <a:endParaRPr sz="24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23" name="Google Shape;22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844" y="1713981"/>
            <a:ext cx="269875" cy="27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44435" y="1770297"/>
            <a:ext cx="233884" cy="257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96050" y="2494954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96050" y="3079551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96050" y="3664148"/>
            <a:ext cx="103733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7"/>
          <p:cNvSpPr txBox="1"/>
          <p:nvPr/>
        </p:nvSpPr>
        <p:spPr>
          <a:xfrm>
            <a:off x="723899" y="533400"/>
            <a:ext cx="709924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 dirty="0" smtClean="0">
                <a:solidFill>
                  <a:srgbClr val="0F172A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NGROK AND WEBHOOKS</a:t>
            </a:r>
            <a:endParaRPr sz="38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723898" y="1061739"/>
            <a:ext cx="6220912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844" y="2892413"/>
            <a:ext cx="4944142" cy="2181239"/>
          </a:xfrm>
          <a:prstGeom prst="rect">
            <a:avLst/>
          </a:prstGeom>
        </p:spPr>
      </p:pic>
      <p:sp>
        <p:nvSpPr>
          <p:cNvPr id="39" name="Google Shape;215;p17"/>
          <p:cNvSpPr txBox="1"/>
          <p:nvPr/>
        </p:nvSpPr>
        <p:spPr>
          <a:xfrm>
            <a:off x="6319448" y="2188157"/>
            <a:ext cx="4714875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600" dirty="0" err="1">
                <a:solidFill>
                  <a:srgbClr val="475569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ngrok</a:t>
            </a:r>
            <a:r>
              <a:rPr lang="en-US" sz="1600" dirty="0">
                <a:solidFill>
                  <a:srgbClr val="475569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 is a developer tool that creates a secure, temporary tunnel from the public internet straight to a port running on your local machine</a:t>
            </a:r>
            <a:r>
              <a:rPr lang="en-US" sz="1600" dirty="0" smtClean="0">
                <a:solidFill>
                  <a:srgbClr val="475569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.</a:t>
            </a:r>
          </a:p>
          <a:p>
            <a:pPr lvl="0"/>
            <a:endParaRPr lang="en-US" sz="1600" dirty="0">
              <a:solidFill>
                <a:srgbClr val="475569"/>
              </a:solidFill>
              <a:latin typeface="Times" panose="02020603050405020304" pitchFamily="18" charset="0"/>
              <a:cs typeface="Times" panose="02020603050405020304" pitchFamily="18" charset="0"/>
              <a:sym typeface="Times New Roman"/>
            </a:endParaRPr>
          </a:p>
          <a:p>
            <a:pPr lvl="0"/>
            <a:endParaRPr sz="16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6883" y="2954151"/>
            <a:ext cx="4687440" cy="23831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8626" y="5921144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8"/>
          <p:cNvSpPr txBox="1"/>
          <p:nvPr/>
        </p:nvSpPr>
        <p:spPr>
          <a:xfrm>
            <a:off x="723900" y="6210300"/>
            <a:ext cx="236815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05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</a:t>
            </a:r>
            <a:r>
              <a:rPr lang="en-US" sz="1050" dirty="0" err="1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</a:t>
            </a:r>
            <a:r>
              <a:rPr lang="en-US" sz="1050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1: Echo Graph</a:t>
            </a:r>
            <a:endParaRPr dirty="0"/>
          </a:p>
        </p:txBody>
      </p:sp>
      <p:sp>
        <p:nvSpPr>
          <p:cNvPr id="250" name="Google Shape;250;p18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723900" y="533400"/>
            <a:ext cx="602982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 err="1">
                <a:solidFill>
                  <a:srgbClr val="0F172A"/>
                </a:solidFill>
                <a:latin typeface="Times"/>
                <a:ea typeface="Times"/>
                <a:cs typeface="Times"/>
                <a:sym typeface="Times"/>
              </a:rPr>
              <a:t>Iter</a:t>
            </a:r>
            <a:r>
              <a:rPr lang="en-US" sz="3800" b="1" dirty="0">
                <a:solidFill>
                  <a:srgbClr val="0F172A"/>
                </a:solidFill>
                <a:latin typeface="Times"/>
                <a:ea typeface="Times"/>
                <a:cs typeface="Times"/>
                <a:sym typeface="Times"/>
              </a:rPr>
              <a:t> 1: Echo Graph</a:t>
            </a:r>
            <a:endParaRPr sz="3800" b="1" dirty="0"/>
          </a:p>
        </p:txBody>
      </p:sp>
      <p:sp>
        <p:nvSpPr>
          <p:cNvPr id="273" name="Google Shape;273;p18"/>
          <p:cNvSpPr/>
          <p:nvPr/>
        </p:nvSpPr>
        <p:spPr>
          <a:xfrm>
            <a:off x="783357" y="1050497"/>
            <a:ext cx="5284068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35873" y="1151877"/>
            <a:ext cx="48411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/>
              <a:t>Prove the runtime before the LLM is in the loop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0618" y="1798208"/>
            <a:ext cx="6493794" cy="261345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0434" y="2079202"/>
            <a:ext cx="44893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Times" panose="02020603050405020304" pitchFamily="18" charset="0"/>
                <a:cs typeface="Times" panose="02020603050405020304" pitchFamily="18" charset="0"/>
              </a:rPr>
              <a:t>A </a:t>
            </a:r>
            <a:r>
              <a:rPr lang="en-US" sz="1800" dirty="0" err="1">
                <a:latin typeface="Times" panose="02020603050405020304" pitchFamily="18" charset="0"/>
                <a:cs typeface="Times" panose="02020603050405020304" pitchFamily="18" charset="0"/>
              </a:rPr>
              <a:t>LangGraph</a:t>
            </a:r>
            <a:r>
              <a:rPr lang="en-US" sz="1800" dirty="0">
                <a:latin typeface="Times" panose="02020603050405020304" pitchFamily="18" charset="0"/>
                <a:cs typeface="Times" panose="02020603050405020304" pitchFamily="18" charset="0"/>
              </a:rPr>
              <a:t> that takes a message in and returns the same message out, driven by an </a:t>
            </a:r>
            <a:r>
              <a:rPr lang="en-US" sz="1800" dirty="0" err="1">
                <a:latin typeface="Times" panose="02020603050405020304" pitchFamily="18" charset="0"/>
                <a:cs typeface="Times" panose="02020603050405020304" pitchFamily="18" charset="0"/>
              </a:rPr>
              <a:t>OpenWA</a:t>
            </a:r>
            <a:r>
              <a:rPr lang="en-US" sz="18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1800" dirty="0" err="1">
                <a:latin typeface="Times" panose="02020603050405020304" pitchFamily="18" charset="0"/>
                <a:cs typeface="Times" panose="02020603050405020304" pitchFamily="18" charset="0"/>
              </a:rPr>
              <a:t>webhook</a:t>
            </a:r>
            <a:r>
              <a:rPr lang="en-US" sz="1800" dirty="0">
                <a:latin typeface="Times" panose="02020603050405020304" pitchFamily="18" charset="0"/>
                <a:cs typeface="Times" panose="02020603050405020304" pitchFamily="18" charset="0"/>
              </a:rPr>
              <a:t> — proving the entire runtime (graph construction, </a:t>
            </a:r>
            <a:r>
              <a:rPr lang="en-US" sz="1800" dirty="0" err="1">
                <a:latin typeface="Times" panose="02020603050405020304" pitchFamily="18" charset="0"/>
                <a:cs typeface="Times" panose="02020603050405020304" pitchFamily="18" charset="0"/>
              </a:rPr>
              <a:t>OpenWA</a:t>
            </a:r>
            <a:endParaRPr lang="en-US" sz="18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1800" dirty="0">
                <a:latin typeface="Times" panose="02020603050405020304" pitchFamily="18" charset="0"/>
                <a:cs typeface="Times" panose="02020603050405020304" pitchFamily="18" charset="0"/>
              </a:rPr>
              <a:t>  → </a:t>
            </a:r>
            <a:r>
              <a:rPr lang="en-US" sz="1800" dirty="0" err="1">
                <a:latin typeface="Times" panose="02020603050405020304" pitchFamily="18" charset="0"/>
                <a:cs typeface="Times" panose="02020603050405020304" pitchFamily="18" charset="0"/>
              </a:rPr>
              <a:t>FastAPI</a:t>
            </a:r>
            <a:r>
              <a:rPr lang="en-US" sz="1800" dirty="0">
                <a:latin typeface="Times" panose="02020603050405020304" pitchFamily="18" charset="0"/>
                <a:cs typeface="Times" panose="02020603050405020304" pitchFamily="18" charset="0"/>
              </a:rPr>
              <a:t> → </a:t>
            </a:r>
            <a:r>
              <a:rPr lang="en-US" sz="1800" dirty="0" err="1">
                <a:latin typeface="Times" panose="02020603050405020304" pitchFamily="18" charset="0"/>
                <a:cs typeface="Times" panose="02020603050405020304" pitchFamily="18" charset="0"/>
              </a:rPr>
              <a:t>LangGraph</a:t>
            </a:r>
            <a:r>
              <a:rPr lang="en-US" sz="1800" dirty="0">
                <a:latin typeface="Times" panose="02020603050405020304" pitchFamily="18" charset="0"/>
                <a:cs typeface="Times" panose="02020603050405020304" pitchFamily="18" charset="0"/>
              </a:rPr>
              <a:t> → </a:t>
            </a:r>
            <a:r>
              <a:rPr lang="en-US" sz="1800" dirty="0" err="1">
                <a:latin typeface="Times" panose="02020603050405020304" pitchFamily="18" charset="0"/>
                <a:cs typeface="Times" panose="02020603050405020304" pitchFamily="18" charset="0"/>
              </a:rPr>
              <a:t>OpenWA</a:t>
            </a:r>
            <a:r>
              <a:rPr lang="en-US" sz="1800" dirty="0">
                <a:latin typeface="Times" panose="02020603050405020304" pitchFamily="18" charset="0"/>
                <a:cs typeface="Times" panose="02020603050405020304" pitchFamily="18" charset="0"/>
              </a:rPr>
              <a:t> loop) works end-to-end before any LLM is in the picture.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203;p17" descr="image.png">
            <a:extLst>
              <a:ext uri="{FF2B5EF4-FFF2-40B4-BE49-F238E27FC236}">
                <a16:creationId xmlns:a16="http://schemas.microsoft.com/office/drawing/2014/main" id="{79AD63C3-A8EE-4327-95E2-E8083D1E47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9"/>
          <p:cNvSpPr txBox="1"/>
          <p:nvPr/>
        </p:nvSpPr>
        <p:spPr>
          <a:xfrm>
            <a:off x="723900" y="6210300"/>
            <a:ext cx="2574577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050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State in </a:t>
            </a:r>
            <a:r>
              <a:rPr lang="en-US" sz="1050" dirty="0" err="1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LangGraph</a:t>
            </a:r>
            <a:endParaRPr lang="en-US" sz="1050" dirty="0">
              <a:solidFill>
                <a:srgbClr val="64748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2" name="Google Shape;282;p19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33400"/>
            <a:ext cx="712632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>
                <a:solidFill>
                  <a:srgbClr val="0F172A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State in </a:t>
            </a:r>
            <a:r>
              <a:rPr lang="en-US" sz="3800" b="1" dirty="0" err="1">
                <a:solidFill>
                  <a:srgbClr val="0F172A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LangGraph</a:t>
            </a:r>
            <a:endParaRPr sz="38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723899" y="1118175"/>
            <a:ext cx="3520441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215;p17">
            <a:extLst>
              <a:ext uri="{FF2B5EF4-FFF2-40B4-BE49-F238E27FC236}">
                <a16:creationId xmlns:a16="http://schemas.microsoft.com/office/drawing/2014/main" id="{DA7D1699-3705-42FC-AD68-BEF7944A6479}"/>
              </a:ext>
            </a:extLst>
          </p:cNvPr>
          <p:cNvSpPr txBox="1"/>
          <p:nvPr/>
        </p:nvSpPr>
        <p:spPr>
          <a:xfrm>
            <a:off x="754769" y="1651575"/>
            <a:ext cx="3371446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State is the one dictionary that every node in your graph reads from and writes to. There is nothing else shared between nodes — no </a:t>
            </a:r>
            <a:r>
              <a:rPr lang="en-US" sz="2000" dirty="0" err="1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globals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no request</a:t>
            </a:r>
          </a:p>
          <a:p>
            <a:pPr lvl="0"/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objects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no service containers. If two nodes need to coordinate, they coordinate through state.</a:t>
            </a:r>
            <a:endParaRPr sz="20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769" y="4213743"/>
            <a:ext cx="3086367" cy="13488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4339" y="1556325"/>
            <a:ext cx="7892711" cy="3314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9"/>
          <p:cNvSpPr txBox="1"/>
          <p:nvPr/>
        </p:nvSpPr>
        <p:spPr>
          <a:xfrm>
            <a:off x="723900" y="6210300"/>
            <a:ext cx="2574577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050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</a:t>
            </a:r>
            <a:r>
              <a:rPr lang="en-US" sz="1050" dirty="0" smtClean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Nodes </a:t>
            </a:r>
            <a:r>
              <a:rPr lang="en-US" sz="1050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Edges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2" name="Google Shape;282;p19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33400"/>
            <a:ext cx="712632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 dirty="0" smtClean="0">
                <a:solidFill>
                  <a:srgbClr val="0F172A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Nodes and Edges</a:t>
            </a:r>
            <a:endParaRPr sz="38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723899" y="1089600"/>
            <a:ext cx="6114646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7DEF9D-929E-4706-9667-D8BE572191E9}"/>
              </a:ext>
            </a:extLst>
          </p:cNvPr>
          <p:cNvSpPr txBox="1"/>
          <p:nvPr/>
        </p:nvSpPr>
        <p:spPr>
          <a:xfrm>
            <a:off x="639923" y="1327725"/>
            <a:ext cx="314129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 node is just an </a:t>
            </a:r>
            <a:r>
              <a:rPr lang="en-US" sz="2000" dirty="0" err="1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async</a:t>
            </a:r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Python function: it takes the state, does some work, returns a partial update. That's the entire definition.</a:t>
            </a:r>
          </a:p>
          <a:p>
            <a:endParaRPr lang="en-US" sz="20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An edge is the arrow that says which node runs after the current one. There are two kinds: static (always goes one place) and conditional (decides at</a:t>
            </a:r>
          </a:p>
          <a:p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runtime 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based on state)</a:t>
            </a:r>
            <a:endParaRPr lang="en-US" sz="20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222" y="1270575"/>
            <a:ext cx="8321761" cy="38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52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0"/>
          <p:cNvSpPr txBox="1"/>
          <p:nvPr/>
        </p:nvSpPr>
        <p:spPr>
          <a:xfrm>
            <a:off x="723900" y="6210300"/>
            <a:ext cx="2638722" cy="3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050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Conditional edges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8" name="Google Shape;318;p20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723899" y="533400"/>
            <a:ext cx="524863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 smtClean="0">
                <a:solidFill>
                  <a:srgbClr val="0F172A"/>
                </a:solidFill>
                <a:latin typeface="Times"/>
                <a:ea typeface="Times"/>
                <a:cs typeface="Times"/>
                <a:sym typeface="Times"/>
              </a:rPr>
              <a:t>Conditional </a:t>
            </a:r>
            <a:r>
              <a:rPr lang="en-US" sz="3800" b="1" dirty="0">
                <a:solidFill>
                  <a:srgbClr val="0F172A"/>
                </a:solidFill>
                <a:latin typeface="Times"/>
                <a:ea typeface="Times"/>
                <a:cs typeface="Times"/>
                <a:sym typeface="Times"/>
              </a:rPr>
              <a:t>edges </a:t>
            </a:r>
            <a:endParaRPr sz="3800" b="1" dirty="0"/>
          </a:p>
        </p:txBody>
      </p:sp>
      <p:sp>
        <p:nvSpPr>
          <p:cNvPr id="332" name="Google Shape;332;p20"/>
          <p:cNvSpPr/>
          <p:nvPr/>
        </p:nvSpPr>
        <p:spPr>
          <a:xfrm>
            <a:off x="723899" y="1089625"/>
            <a:ext cx="4750926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ED1E93-9CBB-4655-8ED0-F8BD4197CB6C}"/>
              </a:ext>
            </a:extLst>
          </p:cNvPr>
          <p:cNvSpPr txBox="1"/>
          <p:nvPr/>
        </p:nvSpPr>
        <p:spPr>
          <a:xfrm>
            <a:off x="723899" y="1398989"/>
            <a:ext cx="432396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 routing function that takes state and returns the name of the next node.</a:t>
            </a:r>
            <a:endParaRPr lang="en-US" sz="22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99" y="2506985"/>
            <a:ext cx="4191363" cy="125740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5262" y="1264624"/>
            <a:ext cx="6841309" cy="4483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203;p17" descr="image.png">
            <a:extLst>
              <a:ext uri="{FF2B5EF4-FFF2-40B4-BE49-F238E27FC236}">
                <a16:creationId xmlns:a16="http://schemas.microsoft.com/office/drawing/2014/main" id="{7BA98788-20A2-499B-8E06-FBF1548913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0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723899" y="533400"/>
            <a:ext cx="892395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>
                <a:solidFill>
                  <a:srgbClr val="0F172A"/>
                </a:solidFill>
                <a:latin typeface="Times"/>
                <a:ea typeface="Times"/>
                <a:cs typeface="Times"/>
                <a:sym typeface="Times"/>
              </a:rPr>
              <a:t>Building a Graph — A Worked Example</a:t>
            </a:r>
            <a:endParaRPr sz="3800" b="1" dirty="0"/>
          </a:p>
        </p:txBody>
      </p:sp>
      <p:sp>
        <p:nvSpPr>
          <p:cNvPr id="332" name="Google Shape;332;p20"/>
          <p:cNvSpPr/>
          <p:nvPr/>
        </p:nvSpPr>
        <p:spPr>
          <a:xfrm>
            <a:off x="723899" y="1089625"/>
            <a:ext cx="4750926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4824" y="1321081"/>
            <a:ext cx="6440367" cy="43294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899" y="1670009"/>
            <a:ext cx="5089410" cy="376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36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1"/>
          <p:cNvSpPr txBox="1"/>
          <p:nvPr/>
        </p:nvSpPr>
        <p:spPr>
          <a:xfrm>
            <a:off x="723900" y="6210300"/>
            <a:ext cx="270033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</a:t>
            </a:r>
            <a:r>
              <a:rPr lang="en-US" sz="1050" b="0" i="0" u="none" strike="noStrike" cap="none" dirty="0" err="1" smtClean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Checkpointers</a:t>
            </a:r>
            <a:endParaRPr dirty="0"/>
          </a:p>
        </p:txBody>
      </p:sp>
      <p:sp>
        <p:nvSpPr>
          <p:cNvPr id="346" name="Google Shape;346;p21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62" name="Google Shape;362;p21"/>
          <p:cNvSpPr txBox="1"/>
          <p:nvPr/>
        </p:nvSpPr>
        <p:spPr>
          <a:xfrm>
            <a:off x="723900" y="533400"/>
            <a:ext cx="675138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 dirty="0" err="1" smtClean="0">
                <a:solidFill>
                  <a:srgbClr val="0F172A"/>
                </a:solidFill>
                <a:latin typeface="Times"/>
                <a:ea typeface="Times"/>
                <a:cs typeface="Times"/>
                <a:sym typeface="Times"/>
              </a:rPr>
              <a:t>Checkpointers</a:t>
            </a:r>
            <a:endParaRPr sz="3800" b="1" dirty="0"/>
          </a:p>
        </p:txBody>
      </p:sp>
      <p:sp>
        <p:nvSpPr>
          <p:cNvPr id="363" name="Google Shape;363;p21"/>
          <p:cNvSpPr/>
          <p:nvPr/>
        </p:nvSpPr>
        <p:spPr>
          <a:xfrm flipV="1">
            <a:off x="723900" y="1077215"/>
            <a:ext cx="5885244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0B28DE-7498-456E-96B3-86420BD3B9B4}"/>
              </a:ext>
            </a:extLst>
          </p:cNvPr>
          <p:cNvSpPr txBox="1"/>
          <p:nvPr/>
        </p:nvSpPr>
        <p:spPr>
          <a:xfrm>
            <a:off x="699332" y="1285239"/>
            <a:ext cx="1109798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 </a:t>
            </a:r>
            <a:r>
              <a:rPr lang="en-US" sz="2000" dirty="0" err="1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checkpointer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persists the full state </a:t>
            </a:r>
            <a:r>
              <a:rPr lang="en-US" sz="2000" dirty="0" err="1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dict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to disk after every node runs. The next </a:t>
            </a:r>
            <a:r>
              <a:rPr lang="en-US" sz="2000" dirty="0" err="1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ainvoke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for the same </a:t>
            </a:r>
            <a:r>
              <a:rPr lang="en-US" sz="2000" dirty="0" err="1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thread_id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loads it first. You turn a </a:t>
            </a:r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stateless graph 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into a </a:t>
            </a:r>
            <a:r>
              <a:rPr lang="en-US" sz="2000" dirty="0" err="1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stateful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one with one extra argument — compile(</a:t>
            </a:r>
            <a:r>
              <a:rPr lang="en-US" sz="2000" dirty="0" err="1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checkpointer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=saver). In this repo it's </a:t>
            </a:r>
            <a:r>
              <a:rPr lang="en-US" sz="2000" dirty="0" err="1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AsyncSqliteSaver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one SQLite file, </a:t>
            </a:r>
            <a:r>
              <a:rPr lang="en-US" sz="2000" dirty="0" err="1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thread_id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= </a:t>
            </a:r>
            <a:r>
              <a:rPr lang="en-US" sz="2000" dirty="0" err="1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chat_id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endParaRPr lang="en-US" sz="20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State 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becomes durable for free. No session table, no cache, no expiry logic — the runtime handles it.</a:t>
            </a:r>
            <a:endParaRPr lang="en-US" sz="20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332" y="2916455"/>
            <a:ext cx="6457247" cy="29860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2"/>
          <p:cNvSpPr txBox="1"/>
          <p:nvPr/>
        </p:nvSpPr>
        <p:spPr>
          <a:xfrm>
            <a:off x="723900" y="6210300"/>
            <a:ext cx="2717006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</a:t>
            </a:r>
            <a:r>
              <a:rPr lang="en-US" sz="1050" b="0" i="0" u="none" strike="noStrike" cap="none" dirty="0" smtClean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HITL</a:t>
            </a:r>
            <a:endParaRPr dirty="0"/>
          </a:p>
        </p:txBody>
      </p:sp>
      <p:sp>
        <p:nvSpPr>
          <p:cNvPr id="378" name="Google Shape;378;p22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413" name="Google Shape;413;p22"/>
          <p:cNvSpPr txBox="1"/>
          <p:nvPr/>
        </p:nvSpPr>
        <p:spPr>
          <a:xfrm>
            <a:off x="723899" y="533400"/>
            <a:ext cx="890623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>
                <a:solidFill>
                  <a:srgbClr val="0F172A"/>
                </a:solidFill>
                <a:latin typeface="Times"/>
                <a:ea typeface="Times"/>
                <a:cs typeface="Times"/>
                <a:sym typeface="Times"/>
              </a:rPr>
              <a:t>Human-in-the-Loop (HITL)</a:t>
            </a:r>
            <a:endParaRPr sz="3800" b="1" dirty="0"/>
          </a:p>
        </p:txBody>
      </p:sp>
      <p:sp>
        <p:nvSpPr>
          <p:cNvPr id="414" name="Google Shape;414;p22"/>
          <p:cNvSpPr/>
          <p:nvPr/>
        </p:nvSpPr>
        <p:spPr>
          <a:xfrm>
            <a:off x="723899" y="1089600"/>
            <a:ext cx="8026562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331" y="2253232"/>
            <a:ext cx="11134755" cy="273864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4B0B28DE-7498-456E-96B3-86420BD3B9B4}"/>
              </a:ext>
            </a:extLst>
          </p:cNvPr>
          <p:cNvSpPr txBox="1"/>
          <p:nvPr/>
        </p:nvSpPr>
        <p:spPr>
          <a:xfrm>
            <a:off x="699332" y="1285239"/>
            <a:ext cx="110979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 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node parks the graph and returns. A </a:t>
            </a:r>
            <a:r>
              <a:rPr lang="en-US" sz="2000" dirty="0" err="1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webhook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later resumes it by calling </a:t>
            </a:r>
            <a:r>
              <a:rPr lang="en-US" sz="2000" dirty="0" err="1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ainvoke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with the same </a:t>
            </a:r>
            <a:r>
              <a:rPr lang="en-US" sz="2000" dirty="0" err="1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thread_id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plus the human's decision in state. The </a:t>
            </a:r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graph itself 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never knows time passed — it's the runtime that waits.</a:t>
            </a:r>
            <a:endParaRPr lang="en-US" sz="20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2"/>
          <p:cNvSpPr txBox="1"/>
          <p:nvPr/>
        </p:nvSpPr>
        <p:spPr>
          <a:xfrm>
            <a:off x="723899" y="6224929"/>
            <a:ext cx="3008346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</a:t>
            </a:r>
            <a:r>
              <a:rPr lang="en-US" sz="1050" b="0" i="0" u="none" strike="noStrike" cap="none" dirty="0" smtClean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Subgraphs</a:t>
            </a:r>
            <a:endParaRPr dirty="0"/>
          </a:p>
        </p:txBody>
      </p:sp>
      <p:sp>
        <p:nvSpPr>
          <p:cNvPr id="378" name="Google Shape;378;p22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413" name="Google Shape;413;p22"/>
          <p:cNvSpPr txBox="1"/>
          <p:nvPr/>
        </p:nvSpPr>
        <p:spPr>
          <a:xfrm>
            <a:off x="723899" y="533400"/>
            <a:ext cx="890623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 dirty="0" smtClean="0">
                <a:solidFill>
                  <a:srgbClr val="0F172A"/>
                </a:solidFill>
                <a:latin typeface="Times"/>
                <a:ea typeface="Times"/>
                <a:cs typeface="Times"/>
                <a:sym typeface="Times"/>
              </a:rPr>
              <a:t>Subgraphs</a:t>
            </a:r>
            <a:endParaRPr sz="3800" b="1" dirty="0"/>
          </a:p>
        </p:txBody>
      </p:sp>
      <p:sp>
        <p:nvSpPr>
          <p:cNvPr id="414" name="Google Shape;414;p22"/>
          <p:cNvSpPr/>
          <p:nvPr/>
        </p:nvSpPr>
        <p:spPr>
          <a:xfrm>
            <a:off x="723899" y="1089600"/>
            <a:ext cx="8026562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0B28DE-7498-456E-96B3-86420BD3B9B4}"/>
              </a:ext>
            </a:extLst>
          </p:cNvPr>
          <p:cNvSpPr txBox="1"/>
          <p:nvPr/>
        </p:nvSpPr>
        <p:spPr>
          <a:xfrm>
            <a:off x="699332" y="1285239"/>
            <a:ext cx="507639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- A 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subgraph is a compiled </a:t>
            </a:r>
            <a:r>
              <a:rPr lang="en-US" sz="2000" dirty="0" err="1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LangGraph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that runs as a node. The parent treats it like any other node </a:t>
            </a:r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function give 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it state, get back a partial </a:t>
            </a:r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dict. Internally 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the subgraph runs its own classify → generate → END against its own state</a:t>
            </a:r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en-US" sz="20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- Useful 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for multi-agent patterns: parent graph routes, subgraphs do the work, parent merges. Same runtime, smaller graph, separate concerns. Same </a:t>
            </a:r>
            <a:r>
              <a:rPr lang="en-US" sz="2000" dirty="0" err="1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thread_id</a:t>
            </a:r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flows 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through both</a:t>
            </a:r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en-US" sz="20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- The 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parent's router picks which subgraph. The merge step aggregates their returns. Subgraphs don't know about each other — they just see state in, </a:t>
            </a:r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return </a:t>
            </a:r>
            <a:r>
              <a:rPr lang="en-US" sz="2000" dirty="0" err="1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dict</a:t>
            </a:r>
            <a:r>
              <a:rPr lang="en-US" sz="2000" dirty="0" smtClean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0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out. Same contract as a node, one level deeper.</a:t>
            </a:r>
            <a:endParaRPr lang="en-US" sz="20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600" y="1212370"/>
            <a:ext cx="5421013" cy="490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178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192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7873" y="2837918"/>
            <a:ext cx="8096250" cy="118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27"/>
          <p:cNvSpPr txBox="1"/>
          <p:nvPr/>
        </p:nvSpPr>
        <p:spPr>
          <a:xfrm>
            <a:off x="723900" y="6210300"/>
            <a:ext cx="187508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CONCLUSION</a:t>
            </a:r>
            <a:endParaRPr/>
          </a:p>
        </p:txBody>
      </p:sp>
      <p:sp>
        <p:nvSpPr>
          <p:cNvPr id="534" name="Google Shape;534;p27"/>
          <p:cNvSpPr txBox="1"/>
          <p:nvPr/>
        </p:nvSpPr>
        <p:spPr>
          <a:xfrm>
            <a:off x="1845467" y="814983"/>
            <a:ext cx="8501062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1" dirty="0">
                <a:latin typeface="Times" panose="02020603050405020304" pitchFamily="18" charset="0"/>
                <a:cs typeface="Times" panose="02020603050405020304" pitchFamily="18" charset="0"/>
              </a:rPr>
              <a:t>Innovation </a:t>
            </a:r>
            <a:r>
              <a:rPr lang="en-US" sz="4000" b="1" dirty="0">
                <a:solidFill>
                  <a:srgbClr val="F6AC3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Begins</a:t>
            </a:r>
            <a:r>
              <a:rPr lang="en-US" sz="4000" b="1" i="1" dirty="0">
                <a:latin typeface="Times" panose="02020603050405020304" pitchFamily="18" charset="0"/>
                <a:cs typeface="Times" panose="02020603050405020304" pitchFamily="18" charset="0"/>
              </a:rPr>
              <a:t> with Curiosity</a:t>
            </a:r>
            <a:endParaRPr sz="4000" b="1" i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35" name="Google Shape;535;p27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536" name="Google Shape;536;p27"/>
          <p:cNvSpPr txBox="1"/>
          <p:nvPr/>
        </p:nvSpPr>
        <p:spPr>
          <a:xfrm>
            <a:off x="2673355" y="2967335"/>
            <a:ext cx="685838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 dirty="0" smtClean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"AI will not replace humans. But humans using AI will replace humans not using AI."</a:t>
            </a:r>
            <a:endParaRPr sz="2000" dirty="0"/>
          </a:p>
        </p:txBody>
      </p:sp>
      <p:pic>
        <p:nvPicPr>
          <p:cNvPr id="537" name="Google Shape;537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73443" y="4644390"/>
            <a:ext cx="270897" cy="23871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27"/>
          <p:cNvSpPr txBox="1"/>
          <p:nvPr/>
        </p:nvSpPr>
        <p:spPr>
          <a:xfrm>
            <a:off x="4320540" y="4554378"/>
            <a:ext cx="120238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Q&amp;A Session</a:t>
            </a:r>
            <a:endParaRPr sz="1600" dirty="0"/>
          </a:p>
        </p:txBody>
      </p:sp>
      <p:pic>
        <p:nvPicPr>
          <p:cNvPr id="539" name="Google Shape;539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67236" y="4716598"/>
            <a:ext cx="244912" cy="19812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7"/>
          <p:cNvSpPr txBox="1"/>
          <p:nvPr/>
        </p:nvSpPr>
        <p:spPr>
          <a:xfrm>
            <a:off x="6712148" y="4644390"/>
            <a:ext cx="12023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aiseason.tech</a:t>
            </a:r>
            <a:endParaRPr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783</Words>
  <Application>Microsoft Office PowerPoint</Application>
  <PresentationFormat>Widescreen</PresentationFormat>
  <Paragraphs>93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Syeda Sara Ali</dc:creator>
  <cp:lastModifiedBy>Muhammad Mustafa</cp:lastModifiedBy>
  <cp:revision>33</cp:revision>
  <dcterms:modified xsi:type="dcterms:W3CDTF">2026-07-19T06:37:35Z</dcterms:modified>
</cp:coreProperties>
</file>